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9"/>
  </p:notesMasterIdLst>
  <p:sldIdLst>
    <p:sldId id="256" r:id="rId2"/>
    <p:sldId id="273" r:id="rId3"/>
    <p:sldId id="274" r:id="rId4"/>
    <p:sldId id="275" r:id="rId5"/>
    <p:sldId id="276" r:id="rId6"/>
    <p:sldId id="277" r:id="rId7"/>
    <p:sldId id="297" r:id="rId8"/>
    <p:sldId id="300" r:id="rId9"/>
    <p:sldId id="299" r:id="rId10"/>
    <p:sldId id="281" r:id="rId11"/>
    <p:sldId id="282" r:id="rId12"/>
    <p:sldId id="283" r:id="rId13"/>
    <p:sldId id="298" r:id="rId14"/>
    <p:sldId id="285" r:id="rId15"/>
    <p:sldId id="301" r:id="rId16"/>
    <p:sldId id="302" r:id="rId17"/>
    <p:sldId id="296" r:id="rId18"/>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415"/>
    <p:restoredTop sz="79124"/>
  </p:normalViewPr>
  <p:slideViewPr>
    <p:cSldViewPr snapToGrid="0" snapToObjects="1">
      <p:cViewPr varScale="1">
        <p:scale>
          <a:sx n="141" d="100"/>
          <a:sy n="141" d="100"/>
        </p:scale>
        <p:origin x="4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787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Hello, my name is Eonshik Kim, and my partner is Paul Shanklin. Today, we are going to present our CAP 6135 Final Project: 'Analysis of Data Leakage Risks in Tor Exit Nodes via Man-in-the-Middle Attacks.' The core of our research is using a man-in-the-middle attack to analyze the risk of data breaches on Tor exit nodes. In this presentation, we will explain how we structured the controlled lab environment using Docker and how we designed the malicious exit node. In addition, we will share how we intercepted plaintext credentials and compare the results with encrypted HTTPS traffic. Furthermore, we will discuss the limitations and technical difficulties that we faced during the lab test. </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The agenda consists of eight sections. First, we will briefly review how the Tor network works and explain why this research is required. Next, we will explain our custom lab environment and the methods we used to configure a malicious exit node. After that, we will show you the attack simulation process. In the evaluation and results section, we will show the results of HTTP traffic interception and compare them with HTTPS to highlight the differences. We will also share the technical challenges and limitations we encountered. Finally, we will conclude with a discussion of future work.</a:t>
            </a:r>
            <a:endParaRPr lang="ko-K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Now let's take a look at the basic structure of the Tor network. Tor stands for The Onion Router, and it uses multiple layers of encryption, just like an onion. User traffic is routed through three nodes. The first node is the Guard Node, which receives the traffic and removes the outermost encryption layer. The next node is the Middle Node; it knows neither the source nor the destination. The last node is the Exit Node. It's the most important node, as highlighted in red. This node removes the final Tor encryption layer and sends the traffic to the destination. As you can see in the red box, Tor is about anonymity—it protects the user's identity but not data confidentiality. If a user connects to an unencrypted HTTP website, the traffic is fully exposed at the exit node, revealing sensitive information like passwords and cookies. This is the starting point of our research.</a:t>
            </a:r>
            <a:endParaRPr lang="ko-KR"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Okay, now let’s define the problem of the research. The first section is the misconception. Many Tor users misunderstand that Tor’s anonymity protection automatically guarantees data confidentiality. They just assume that it is safe because they are using Tor. However, in reality, that is not true at all. When they connect to an unencrypted website via HTTP, users' credentials, session tokens, cookies, and query results are fully exposed to the exit node operator. The next section is our research goal. We exploit this vulnerability and simulate it in a controlled Docker environment. Specifically, we structured a malicious exit node to intercept plaintext HTTP credentials and compare them with HTTPS traffic to prove that end-to-end encryption is required even in an anonymity network. We also want to emphasize that this attack doesn’t require any active attacks or complex decryption. It is simply passive packet sniffing.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Okay, now let’s talk about the methodology section and discuss the lab environment. First, let’s see the operating system. For the OS, we used Debian </a:t>
            </a:r>
            <a:r>
              <a:rPr lang="en-US" altLang="ko-KR" dirty="0" err="1"/>
              <a:t>sid</a:t>
            </a:r>
            <a:r>
              <a:rPr lang="en-US" altLang="ko-KR" dirty="0"/>
              <a:t>, which is an unstable version. We started with the latest Ubuntu image. However, it had a problem: it was not compliant with the latest Tor protocol requirements. In the Ubuntu package repository, there was only the Tor 0.4.6.x version. This version didn't support the latest Tor network </a:t>
            </a:r>
            <a:r>
              <a:rPr lang="en-US" altLang="ko-KR" dirty="0" err="1"/>
              <a:t>FlowCtrl</a:t>
            </a:r>
            <a:r>
              <a:rPr lang="en-US" altLang="ko-KR" dirty="0"/>
              <a:t> protocol, which caused a consensus rejection error. Thus, we decided to switch to Debian </a:t>
            </a:r>
            <a:r>
              <a:rPr lang="en-US" altLang="ko-KR" dirty="0" err="1"/>
              <a:t>sid</a:t>
            </a:r>
            <a:r>
              <a:rPr lang="en-US" altLang="ko-KR" dirty="0"/>
              <a:t>, which supports the latest packages, and installed Tor 0.4.8.x. For the virtualization environment, we used Docker containers. The reason we used Docker is that it can provide a safe, fast, and isolated network environment. Uploading a malicious node to the real Tor network is definitely illegal and unethical, so we conducted our experiment by designing a local Tor circuit inside Docker.  For the software stack, we used Tor 0.4.8.x, Python 3 , the </a:t>
            </a:r>
            <a:r>
              <a:rPr lang="en-US" altLang="ko-KR" dirty="0" err="1"/>
              <a:t>Scapy</a:t>
            </a:r>
            <a:r>
              <a:rPr lang="en-US" altLang="ko-KR" dirty="0"/>
              <a:t> library for packet capturing and analysis , and </a:t>
            </a:r>
            <a:r>
              <a:rPr lang="en-US" altLang="ko-KR" dirty="0" err="1"/>
              <a:t>PySocks</a:t>
            </a:r>
            <a:r>
              <a:rPr lang="en-US" altLang="ko-KR" dirty="0"/>
              <a:t> to be able to connect to Tor through a SOCKS5 proxy.</a:t>
            </a:r>
            <a:endParaRPr lang="ko-KR"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Now, let’s discuss how we specifically configured the malicious exit node.  First, network binding. We configured </a:t>
            </a:r>
            <a:r>
              <a:rPr lang="en-US" altLang="ko-KR" dirty="0" err="1"/>
              <a:t>SocksPort</a:t>
            </a:r>
            <a:r>
              <a:rPr lang="en-US" altLang="ko-KR" dirty="0"/>
              <a:t> to 0.0.0.0:9050. In general, the Tor client binds to localhost 127.0.0.1. However, we bound it to all interfaces so the host machine could connect to this Tor proxy. It is an essential configuration for the Docker network environment.  Second, exit policy. We configured it with "accept :" so all traffic can pass through this node. In general, Tor exit nodes block many ports due to security concerns. However, we had to capture all traffic in the experiment, so we allowed everything.  The last and most important configuration is setting </a:t>
            </a:r>
            <a:r>
              <a:rPr lang="en-US" altLang="ko-KR" dirty="0" err="1"/>
              <a:t>AllowSingleHopCircuits</a:t>
            </a:r>
            <a:r>
              <a:rPr lang="en-US" altLang="ko-KR" dirty="0"/>
              <a:t> to 1. It means we used 1-hop circuits instead of 3-hop circuits. The reason we did this is that our research focus was not on the guard or middle node; we focused solely on finding a vulnerability in the exit node. All Tor encryption is removed at the exit node, so whether we used 3 hops or 1 hop, the data is identical to what we see on the exit node. We will discuss this limitation further on the Limitations slide.</a:t>
            </a:r>
            <a:endParaRPr lang="ko-KR"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This slide shows all information about the torrc configuration file.</a:t>
            </a:r>
          </a:p>
          <a:p>
            <a:r>
              <a:rPr lang="en-US" altLang="ko-KR" dirty="0"/>
              <a:t>For DataDirectory /var/lib/tor, this is the path where Tor stores consensus data and keys.</a:t>
            </a:r>
          </a:p>
          <a:p>
            <a:r>
              <a:rPr lang="en-US" altLang="ko-KR" dirty="0"/>
              <a:t>For SocksPort 0.0.0.0:9050, instead of the default value 127.0.0.1, we changed it to 0.0.0.0, allowing us to connect from outside the Docker container.</a:t>
            </a:r>
          </a:p>
          <a:p>
            <a:r>
              <a:rPr lang="en-US" altLang="ko-KR" dirty="0"/>
              <a:t>For ORPort 9001, it's an onion router port. This port allows Tor to relay communication with another node.</a:t>
            </a:r>
          </a:p>
          <a:p>
            <a:r>
              <a:rPr lang="en-US" altLang="ko-KR" dirty="0"/>
              <a:t>For ExitRelay 1, we designate it as an exit node. Traffic can reach the internet via this node.</a:t>
            </a:r>
          </a:p>
          <a:p>
            <a:r>
              <a:rPr lang="en-US" altLang="ko-KR" dirty="0"/>
              <a:t>For ExitPolicy accept *:* — It allows traffic to all destinations and ports.</a:t>
            </a:r>
          </a:p>
          <a:p>
            <a:r>
              <a:rPr lang="en-US" altLang="ko-KR" dirty="0"/>
              <a:t>For PublishServerDescriptor 0, it allows us to avoid registering relay information with the real Tor directory server.</a:t>
            </a:r>
          </a:p>
          <a:p>
            <a:r>
              <a:rPr lang="en-US" altLang="ko-KR" dirty="0"/>
              <a:t>For AllowSingleHopCircuits 1, it allows a 1-hop circuit instead of a 3-hop circuit.</a:t>
            </a:r>
          </a:p>
          <a:p>
            <a:r>
              <a:rPr lang="en-US" altLang="ko-KR" dirty="0"/>
              <a:t>For Log notice stdout, the log messages are sent to stdout.</a:t>
            </a:r>
          </a:p>
          <a:p>
            <a:r>
              <a:rPr lang="en-US" altLang="ko-KR" dirty="0"/>
              <a:t>The above 8 configurations are all we needed to turn a normal Tor relay into a malicious exit node. It is very simple, but it also implies the danger of this attack.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Now let's look at the actual attack code, attacker.py. This code uses Python's Scapy library to capture packets and analyze them. First, if you look at the import section at the top, it imports Scapy's sniff function and the TCP and Raw layers.</a:t>
            </a:r>
          </a:p>
          <a:p>
            <a:r>
              <a:rPr lang="en-US" altLang="ko-KR" dirty="0"/>
              <a:t>Now, let's look at the extract_credentials function. This function is the callback function that is called for each captured packet. First, we check if the packet has a TCP layer and a Raw layer. The Raw layer contains the actual HTTP payload. In the initial version, we tried to extract credentials by parsing HTTP headers, such as Content-Type. However, packets that pass through Tor are sometimes fragmented or reassembled, so they may miss some standard HTTP headers. Thus, we redesigned the code to use a method that scans the entire raw payload.</a:t>
            </a:r>
          </a:p>
          <a:p>
            <a:r>
              <a:rPr lang="en-US" altLang="ko-KR" dirty="0"/>
              <a:t>At the bottom, the sniff function captures TCP traffic from the eth0 interface using filtering. This includes HTTP traffic, so it captures all unencrypted web traffic.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Now, let us show the attack simulation with the 4-stage process.</a:t>
            </a:r>
          </a:p>
          <a:p>
            <a:r>
              <a:rPr lang="en-US" altLang="ko-KR" dirty="0"/>
              <a:t>The first stage is relay initialization. We execute the Tor process with root privileges inside the Docker container. Then we wait until we see the message 'Bootstrapped 100%: Done'.</a:t>
            </a:r>
          </a:p>
          <a:p>
            <a:r>
              <a:rPr lang="en-US" altLang="ko-KR" dirty="0"/>
              <a:t>The second stage is to start sniffing. We open a separate terminal, connect to the same Docker container with docker exec, and run attacker.py. The script starts detecting all incoming TCP traffic passing through the eth0 interface.</a:t>
            </a:r>
          </a:p>
          <a:p>
            <a:r>
              <a:rPr lang="en-US" altLang="ko-KR" dirty="0"/>
              <a:t>The third stage is Send Traffic. When the host machine runs python3 victim.py in a separate terminal, it connects to a Tor exit node via a SOCKS5 proxy in the Docker container and sends plaintext credentials via an HTTP POST request to httpbin.org.</a:t>
            </a:r>
          </a:p>
          <a:p>
            <a:r>
              <a:rPr lang="en-US" altLang="ko-KR" dirty="0"/>
              <a:t>The fourth stage is exfiltrating data. When the traffic passes through the exit node, attacker.py captures the packet. Tor encryption is already removed at this point. From the payload, it extracts plaintext credentials such as 'username=admin' and 'password=password1234'.</a:t>
            </a:r>
          </a:p>
          <a:p>
            <a:r>
              <a:rPr lang="en-US" altLang="ko-KR" dirty="0"/>
              <a:t>This means we can capture credentials using only passive sniffing.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We will show the results now. The screen you see now is the actual terminal output. The client sent the login request to the HTTP website through Tor, and the exit node's sniffer captured that traffic. If you look at the printed message on the terminal, you can see the 'Credentials detected' message with username=admin and password=password1234, all displayed in plaintext. It didn’t involve any decryption process. Tor’s encryption layer was already removed at the exit node, so the HTTP payload was fully exposed.  This result teaches us a lesson. Even if you use Tor, when you connect through HTTP, all of your login information will be exposed to the exit node operator. The user may think they are communicating safely with Tor, but all the information is visible at the exit node. It gives us a clear message that anonymity doesn’t imply confidentiality.</a:t>
            </a:r>
            <a:endParaRPr lang="ko-KR"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Now let’s compare the results with HTTPS. This comparison is an important part of our research.  In the same lab environment, we sent traffic over HTTPS. As you can see from the result, the sniffer cannot capture any data. With the message 'Listening on eth0...', it remains in standby. We couldn’t see any extracted data. When you look at the comparison box at the bottom, HTTP exposes credentials as plaintext; all information in HTTPS is encrypted with TLS, so the exit node can’t see any data. This clearly shows us a message. HTTPS, using TLS encryption, operates independently of Tor encryption. Even though Tor’s encryption is removed at the exit node, HTTPS’s TLS encryption remains intact. Therefore, if we use end-to-end encryption, we can completely protect ourselves from an exit node attack.  This is the practical implication of our research. Even if you use Tor, you must connect only to HTTPS websites.</a:t>
            </a:r>
            <a:endParaRPr lang="ko-KR"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This is the result of the capture accuracy test we performed 20 times; all credentials were captured, and we achieved 100% accuracy.</a:t>
            </a:r>
          </a:p>
          <a:p>
            <a:r>
              <a:rPr lang="en-US" altLang="ko-KR" dirty="0"/>
              <a:t>However, it was not 100% accurate from the beginning. If you look at the comparison of before and after at the bottom, the initial version of the sniffer used an HTTP header-based extraction method. It parsed POST data by checking the Content-Type header, but it was unstable because the packets that passed through Tor often lacked the header or were fragmented.</a:t>
            </a:r>
          </a:p>
          <a:p>
            <a:r>
              <a:rPr lang="en-US" altLang="ko-KR" dirty="0"/>
              <a:t>To resolve this, we redesigned it using the raw payload scanner method. We didn’t rely on the HTTP headers, and we scanned the whole packet payload by bytes and found the credential patterns like 'username=' and 'password='. Thanks to this redesign, we were able to always find credentials regardless of packet fragmentation or missing headers. As a result, we achieved 100% capture accuracy 20 times in a row. This relates to the packet fragmentation issue we will discuss in the challenges section later.</a:t>
            </a:r>
            <a:endParaRPr lang="ko-KR"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In this slide, we will share the three important technical challenges that we faced during the lab test.</a:t>
            </a:r>
          </a:p>
          <a:p>
            <a:r>
              <a:rPr lang="en-US" altLang="ko-KR" dirty="0"/>
              <a:t>The first challenge was the issue with the Tor protocol version. The standard Tor package in Ubuntu was 0.4.6.x, but the version didn't support the FlowCtrl protocol and Relay=4 that the latest Tor directory authentication server requires. For the solution, we installed Debian sid instead, which included the latest version of Tor, the 0.4.8.x package.</a:t>
            </a:r>
          </a:p>
          <a:p>
            <a:r>
              <a:rPr lang="en-US" altLang="ko-KR" dirty="0"/>
              <a:t>The second challenge was the issue with the Docker network and interface binding. There was a connection issue from the host Mac to the inside Docker container's Tor Socks5 proxy. The cause was Tor's standard security configuration, binding only SocksPort to the loopback address 127.0.0.1. To resolve this issue, we allowed external connections by setting SocksPort to 0.0.0.0:9050 in torrc.</a:t>
            </a:r>
          </a:p>
          <a:p>
            <a:r>
              <a:rPr lang="en-US" altLang="ko-KR" dirty="0"/>
              <a:t>The third and most difficult challenge was the packet fragmentation. Due to Tor and Docker's packet buffering, packets arrived with fragmentation. To resolve this issue, we used a raw payload scanner. It didn't depend on the specific protocol layer; it searches the TCP payload for sensitive keywords like 'password' and 'username'. This resulted in 100% capture accuracy on 20 test runs.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In this slide, we will discuss the limitations of our research. It’s about how we used a single-hop circuit.  When you look at the 'What We Simplified' section, we used a 1-hop circuit instead of a 3-hop circuit. It means it bypasses the guard node and the middle node and connects directly to the exit node. We did this to reduce the infrastructure complexity in the Docker environment.  Now let’s look at the 'Why This Does Not Affect Validity' section. It explains that this simplification doesn’t affect the validity of the research results. The vulnerability stems from the exit node. Regardless of whether traffic passes through 3 nodes or 1 node, the Tor encryption layer has already been removed by the time it reaches the exit node. Therefore, whether 3-hop or 1-hop, the data we see at the exit node is identical.  In other words, what we simplified was the path to the exit node, not the vulnerability at the exit node itself. The vulnerability is that the traffic after the exit node is plaintext. It’s not related to the number of hops.</a:t>
            </a:r>
            <a:endParaRPr lang="ko-KR"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We suggest three areas for future work.</a:t>
            </a:r>
          </a:p>
          <a:p>
            <a:r>
              <a:rPr lang="en-US" altLang="ko-KR" dirty="0"/>
              <a:t>The first one is the implementation of an SSL stripping attack. We focused on passive sniffing of HTTP traffic. SSL stripping is an advanced version of this. It downgrades the HTTPS connection to HTTP at the exit node, which is an active attack.</a:t>
            </a:r>
          </a:p>
          <a:p>
            <a:r>
              <a:rPr lang="en-US" altLang="ko-KR" dirty="0"/>
              <a:t>The second one is automated credential detection. Our current sniffer uses fixed patterns like 'username=' and 'password='. A future system could automatically detect credential patterns across the entire traffic and simulate attacks more accurately by analyzing their relationship with session data.</a:t>
            </a:r>
          </a:p>
          <a:p>
            <a:r>
              <a:rPr lang="en-US" altLang="ko-KR" dirty="0"/>
              <a:t>The third one is DNS leakage analysis. DNS requests can expose destination information independently of HTTP traffic. An attacker can track which websites users visit, thereby threatening Tor's anonymity guarantee.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Lastly, let's talk about the conclusion.  Here are the 5 core conclusions from our research.</a:t>
            </a:r>
          </a:p>
          <a:p>
            <a:r>
              <a:rPr lang="en-US" altLang="ko-KR" dirty="0"/>
              <a:t>First, anonymity is not confidentiality. Tor's anonymity protection doesn't guarantee data confidentiality. Tor hides which user sends certain traffic, but it doesn't protect what kind of traffic the user sends.</a:t>
            </a:r>
          </a:p>
          <a:p>
            <a:r>
              <a:rPr lang="en-US" altLang="ko-KR" dirty="0"/>
              <a:t>Second, we verified that plaintext traffic at the exit node is completely vulnerable; we captured mock data containing credentials and session data.</a:t>
            </a:r>
          </a:p>
          <a:p>
            <a:r>
              <a:rPr lang="en-US" altLang="ko-KR" dirty="0"/>
              <a:t>Third, passive sniffing is strong enough. Without an active attack or complex decryption, the exit node operator can obtain sensitive session data by simply eavesdropping on network traffic.</a:t>
            </a:r>
          </a:p>
          <a:p>
            <a:r>
              <a:rPr lang="en-US" altLang="ko-KR" dirty="0"/>
              <a:t>To totally prevent this attack, as we verified in the comparison test with HTTPS traffic, application-layer encryption must be used regardless of whether the network is anonymous.</a:t>
            </a:r>
          </a:p>
          <a:p>
            <a:r>
              <a:rPr lang="en-US" altLang="ko-KR" dirty="0"/>
              <a:t>Last, a single malicious exit node can harvest numerous credentials. It can collect sensitive user data, even though users believe Tor's anonymity also includes end-to-end encryption.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ko-KR" dirty="0"/>
              <a:t>Here are the references we used. The full source code for our project is available on GitHub. The repository includes the </a:t>
            </a:r>
            <a:r>
              <a:rPr lang="en-US" altLang="ko-KR" dirty="0" err="1"/>
              <a:t>attacker.py</a:t>
            </a:r>
            <a:r>
              <a:rPr lang="en-US" altLang="ko-KR" dirty="0"/>
              <a:t> sniffer script, the </a:t>
            </a:r>
            <a:r>
              <a:rPr lang="en-US" altLang="ko-KR" dirty="0" err="1"/>
              <a:t>victim.py</a:t>
            </a:r>
            <a:r>
              <a:rPr lang="en-US" altLang="ko-KR" dirty="0"/>
              <a:t> client script, and a screenshot of the credentials being stolen.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2381"/>
            <a:ext cx="9144000" cy="3902869"/>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607501" y="1086861"/>
            <a:ext cx="7929000" cy="2228288"/>
          </a:xfrm>
        </p:spPr>
        <p:txBody>
          <a:bodyPr/>
          <a:lstStyle>
            <a:lvl1pPr>
              <a:defRPr sz="4050"/>
            </a:lvl1pPr>
          </a:lstStyle>
          <a:p>
            <a:r>
              <a:rPr lang="en-US"/>
              <a:t>Click to edit Master title style</a:t>
            </a:r>
            <a:endParaRPr lang="en-US" dirty="0"/>
          </a:p>
        </p:txBody>
      </p:sp>
      <p:sp>
        <p:nvSpPr>
          <p:cNvPr id="3" name="Subtitle 2"/>
          <p:cNvSpPr>
            <a:spLocks noGrp="1"/>
          </p:cNvSpPr>
          <p:nvPr>
            <p:ph type="subTitle" idx="1"/>
          </p:nvPr>
        </p:nvSpPr>
        <p:spPr>
          <a:xfrm>
            <a:off x="607501" y="3960635"/>
            <a:ext cx="7929000" cy="326231"/>
          </a:xfrm>
        </p:spPr>
        <p:txBody>
          <a:bodyPr anchor="t"/>
          <a:lstStyle>
            <a:lvl1pPr marL="0" indent="0" algn="l">
              <a:buNone/>
              <a:defRPr>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4/15/26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30926043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335391"/>
            <a:ext cx="7928999" cy="727838"/>
          </a:xfrm>
        </p:spPr>
        <p:txBody>
          <a:bodyPr/>
          <a:lstStyle/>
          <a:p>
            <a:r>
              <a:rPr lang="en-US"/>
              <a:t>Click to edit Master title style</a:t>
            </a:r>
            <a:endParaRPr lang="en-US" dirty="0"/>
          </a:p>
        </p:txBody>
      </p:sp>
      <p:sp>
        <p:nvSpPr>
          <p:cNvPr id="3" name="Content Placeholder 2"/>
          <p:cNvSpPr>
            <a:spLocks noGrp="1"/>
          </p:cNvSpPr>
          <p:nvPr>
            <p:ph idx="1"/>
          </p:nvPr>
        </p:nvSpPr>
        <p:spPr>
          <a:xfrm>
            <a:off x="614034" y="1666716"/>
            <a:ext cx="7915931" cy="27273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4/15/26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1414590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9144000" cy="3902869"/>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07500" y="2213547"/>
            <a:ext cx="7921064" cy="1101600"/>
          </a:xfrm>
        </p:spPr>
        <p:txBody>
          <a:bodyPr anchor="b"/>
          <a:lstStyle>
            <a:lvl1pPr algn="r">
              <a:defRPr sz="3600" b="1" cap="none"/>
            </a:lvl1pPr>
          </a:lstStyle>
          <a:p>
            <a:r>
              <a:rPr lang="en-US"/>
              <a:t>Click to edit Master title style</a:t>
            </a:r>
            <a:endParaRPr lang="en-US" dirty="0"/>
          </a:p>
        </p:txBody>
      </p:sp>
      <p:sp>
        <p:nvSpPr>
          <p:cNvPr id="3" name="Text Placeholder 2"/>
          <p:cNvSpPr>
            <a:spLocks noGrp="1"/>
          </p:cNvSpPr>
          <p:nvPr>
            <p:ph type="body" idx="1"/>
          </p:nvPr>
        </p:nvSpPr>
        <p:spPr>
          <a:xfrm>
            <a:off x="607500" y="3960901"/>
            <a:ext cx="7921064" cy="325466"/>
          </a:xfrm>
        </p:spPr>
        <p:txBody>
          <a:bodyPr anchor="t">
            <a:noAutofit/>
          </a:bodyPr>
          <a:lstStyle>
            <a:lvl1pPr marL="0" indent="0" algn="r">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4/15/26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235185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4034" y="1666716"/>
            <a:ext cx="3889405" cy="27290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62" y="1666715"/>
            <a:ext cx="3895937" cy="272907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4/15/26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1612648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11046" y="1631156"/>
            <a:ext cx="3892393" cy="432197"/>
          </a:xfrm>
        </p:spPr>
        <p:txBody>
          <a:bodyPr anchor="b">
            <a:noAutofit/>
          </a:bodyPr>
          <a:lstStyle>
            <a:lvl1pPr marL="0" indent="0" algn="ctr">
              <a:buNone/>
              <a:defRPr sz="15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11047" y="2063354"/>
            <a:ext cx="3892392" cy="233243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62" y="1631156"/>
            <a:ext cx="3895937" cy="432197"/>
          </a:xfrm>
        </p:spPr>
        <p:txBody>
          <a:bodyPr anchor="b">
            <a:noAutofit/>
          </a:bodyPr>
          <a:lstStyle>
            <a:lvl1pPr marL="0" indent="0" algn="ctr">
              <a:buNone/>
              <a:defRPr sz="15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0562" y="2063354"/>
            <a:ext cx="3895937" cy="233243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4/15/26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102959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4/15/26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990435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4/15/26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9847656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804864" y="334566"/>
            <a:ext cx="2660650" cy="13609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04864" y="334566"/>
            <a:ext cx="2660650" cy="1213797"/>
          </a:xfrm>
        </p:spPr>
        <p:txBody>
          <a:bodyPr anchor="b"/>
          <a:lstStyle>
            <a:lvl1pPr algn="l">
              <a:defRPr sz="1500" b="1"/>
            </a:lvl1pPr>
          </a:lstStyle>
          <a:p>
            <a:r>
              <a:rPr lang="en-US"/>
              <a:t>Click to edit Master title style</a:t>
            </a:r>
            <a:endParaRPr lang="en-US" dirty="0"/>
          </a:p>
        </p:txBody>
      </p:sp>
      <p:sp>
        <p:nvSpPr>
          <p:cNvPr id="3" name="Content Placeholder 2"/>
          <p:cNvSpPr>
            <a:spLocks noGrp="1"/>
          </p:cNvSpPr>
          <p:nvPr>
            <p:ph idx="1"/>
          </p:nvPr>
        </p:nvSpPr>
        <p:spPr>
          <a:xfrm>
            <a:off x="3641725" y="334567"/>
            <a:ext cx="4689475" cy="40612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04864" y="1695554"/>
            <a:ext cx="2660650" cy="270023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4/15/26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586811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1046" y="545642"/>
            <a:ext cx="3639741" cy="1212872"/>
          </a:xfrm>
        </p:spPr>
        <p:txBody>
          <a:bodyPr anchor="b">
            <a:normAutofit/>
          </a:bodyPr>
          <a:lstStyle>
            <a:lvl1pPr algn="l">
              <a:defRPr sz="18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4573588" y="0"/>
            <a:ext cx="4570412" cy="51435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050"/>
            </a:lvl1pPr>
          </a:lstStyle>
          <a:p>
            <a:r>
              <a:rPr lang="en-US"/>
              <a:t>Click icon to add picture</a:t>
            </a:r>
            <a:endParaRPr lang="en-US" dirty="0"/>
          </a:p>
        </p:txBody>
      </p:sp>
      <p:sp>
        <p:nvSpPr>
          <p:cNvPr id="4" name="Text Placeholder 3"/>
          <p:cNvSpPr>
            <a:spLocks noGrp="1"/>
          </p:cNvSpPr>
          <p:nvPr>
            <p:ph type="body" sz="half" idx="2"/>
          </p:nvPr>
        </p:nvSpPr>
        <p:spPr>
          <a:xfrm>
            <a:off x="611046" y="1758513"/>
            <a:ext cx="3639741" cy="2637274"/>
          </a:xfrm>
        </p:spPr>
        <p:txBody>
          <a:bodyPr anchor="t">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2914358" y="4531022"/>
            <a:ext cx="732659" cy="273844"/>
          </a:xfrm>
        </p:spPr>
        <p:txBody>
          <a:bodyPr/>
          <a:lstStyle/>
          <a:p>
            <a:fld id="{18C79C5D-2A6F-F04D-97DA-BEF2467B64E4}" type="datetimeFigureOut">
              <a:rPr lang="en-US" dirty="0"/>
              <a:pPr/>
              <a:t>4/15/26</a:t>
            </a:fld>
            <a:endParaRPr lang="en-US" dirty="0"/>
          </a:p>
        </p:txBody>
      </p:sp>
      <p:sp>
        <p:nvSpPr>
          <p:cNvPr id="6" name="Footer Placeholder 5"/>
          <p:cNvSpPr>
            <a:spLocks noGrp="1"/>
          </p:cNvSpPr>
          <p:nvPr>
            <p:ph type="ftr" sz="quarter" idx="11"/>
          </p:nvPr>
        </p:nvSpPr>
        <p:spPr>
          <a:xfrm>
            <a:off x="442797" y="4531022"/>
            <a:ext cx="2471560" cy="273844"/>
          </a:xfrm>
        </p:spPr>
        <p:txBody>
          <a:bodyPr/>
          <a:lstStyle/>
          <a:p>
            <a:endParaRPr lang="en-US" dirty="0"/>
          </a:p>
        </p:txBody>
      </p:sp>
      <p:sp>
        <p:nvSpPr>
          <p:cNvPr id="7" name="Slide Number Placeholder 6"/>
          <p:cNvSpPr>
            <a:spLocks noGrp="1"/>
          </p:cNvSpPr>
          <p:nvPr>
            <p:ph type="sldNum" sz="quarter" idx="12"/>
          </p:nvPr>
        </p:nvSpPr>
        <p:spPr>
          <a:xfrm>
            <a:off x="3647017" y="4436917"/>
            <a:ext cx="796616" cy="367949"/>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8490638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7500" y="3600450"/>
            <a:ext cx="7921064" cy="425054"/>
          </a:xfrm>
        </p:spPr>
        <p:txBody>
          <a:bodyPr anchor="b">
            <a:normAutofit/>
          </a:bodyPr>
          <a:lstStyle>
            <a:lvl1pPr algn="l">
              <a:defRPr sz="18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9144000" cy="360045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200"/>
            </a:lvl1pPr>
          </a:lstStyle>
          <a:p>
            <a:r>
              <a:rPr lang="en-US"/>
              <a:t>Click icon to add picture</a:t>
            </a:r>
            <a:endParaRPr lang="en-US" dirty="0"/>
          </a:p>
        </p:txBody>
      </p:sp>
      <p:sp>
        <p:nvSpPr>
          <p:cNvPr id="4" name="Text Placeholder 3"/>
          <p:cNvSpPr>
            <a:spLocks noGrp="1"/>
          </p:cNvSpPr>
          <p:nvPr>
            <p:ph type="body" sz="half" idx="2"/>
          </p:nvPr>
        </p:nvSpPr>
        <p:spPr>
          <a:xfrm>
            <a:off x="607500" y="4025504"/>
            <a:ext cx="7921064"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4/15/26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079985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473773" y="811092"/>
            <a:ext cx="4749312" cy="242939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38239" y="928877"/>
            <a:ext cx="4420380" cy="1984434"/>
          </a:xfrm>
        </p:spPr>
        <p:txBody>
          <a:bodyPr anchor="b"/>
          <a:lstStyle>
            <a:lvl1pPr algn="l">
              <a:defRPr sz="3150" b="1" cap="none"/>
            </a:lvl1pPr>
          </a:lstStyle>
          <a:p>
            <a:r>
              <a:rPr lang="en-US"/>
              <a:t>Click to edit Master title style</a:t>
            </a:r>
            <a:endParaRPr lang="en-US" dirty="0"/>
          </a:p>
        </p:txBody>
      </p:sp>
      <p:sp>
        <p:nvSpPr>
          <p:cNvPr id="3" name="Text Placeholder 2"/>
          <p:cNvSpPr>
            <a:spLocks noGrp="1"/>
          </p:cNvSpPr>
          <p:nvPr>
            <p:ph type="body" idx="1"/>
          </p:nvPr>
        </p:nvSpPr>
        <p:spPr>
          <a:xfrm>
            <a:off x="639892" y="3332760"/>
            <a:ext cx="4418727" cy="534931"/>
          </a:xfrm>
        </p:spPr>
        <p:txBody>
          <a:bodyPr anchor="t">
            <a:no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5680982" y="811092"/>
            <a:ext cx="2857501" cy="3056599"/>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4/15/26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9669491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855663" y="1714939"/>
            <a:ext cx="3671336" cy="187797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017817" y="1826968"/>
            <a:ext cx="3286891" cy="1505842"/>
          </a:xfrm>
        </p:spPr>
        <p:txBody>
          <a:bodyPr/>
          <a:lstStyle>
            <a:lvl1pPr>
              <a:defRPr sz="2400"/>
            </a:lvl1pPr>
          </a:lstStyle>
          <a:p>
            <a:r>
              <a:rPr lang="en-US"/>
              <a:t>Click to edit Master title style</a:t>
            </a:r>
            <a:endParaRPr lang="en-US" dirty="0"/>
          </a:p>
        </p:txBody>
      </p:sp>
      <p:sp>
        <p:nvSpPr>
          <p:cNvPr id="6" name="Text Placeholder 5"/>
          <p:cNvSpPr>
            <a:spLocks noGrp="1"/>
          </p:cNvSpPr>
          <p:nvPr>
            <p:ph type="body" sz="quarter" idx="16"/>
          </p:nvPr>
        </p:nvSpPr>
        <p:spPr>
          <a:xfrm>
            <a:off x="4617000" y="1714500"/>
            <a:ext cx="3660225" cy="1721644"/>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4/15/26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3417923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9144000" cy="1639491"/>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4/15/26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8895231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5752239" y="334567"/>
            <a:ext cx="3391762" cy="406122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137656" y="439628"/>
            <a:ext cx="1871093" cy="38510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7501" y="334567"/>
            <a:ext cx="4958655" cy="406122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4/15/26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6869263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46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7500" y="335391"/>
            <a:ext cx="7928999" cy="727838"/>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607500" y="1638301"/>
            <a:ext cx="7922464" cy="2755798"/>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338635" y="4531022"/>
            <a:ext cx="6483240" cy="273844"/>
          </a:xfrm>
          <a:prstGeom prst="rect">
            <a:avLst/>
          </a:prstGeom>
        </p:spPr>
        <p:txBody>
          <a:bodyPr vert="horz" lIns="91440" tIns="45720" rIns="91440" bIns="45720" rtlCol="0" anchor="b"/>
          <a:lstStyle>
            <a:lvl1pPr algn="l">
              <a:defRPr sz="675">
                <a:solidFill>
                  <a:schemeClr val="tx1"/>
                </a:solidFill>
              </a:defRPr>
            </a:lvl1pPr>
          </a:lstStyle>
          <a:p>
            <a:endParaRPr lang="en-US" dirty="0"/>
          </a:p>
        </p:txBody>
      </p:sp>
      <p:sp>
        <p:nvSpPr>
          <p:cNvPr id="4" name="Date Placeholder 3"/>
          <p:cNvSpPr>
            <a:spLocks noGrp="1"/>
          </p:cNvSpPr>
          <p:nvPr>
            <p:ph type="dt" sz="half" idx="2"/>
          </p:nvPr>
        </p:nvSpPr>
        <p:spPr>
          <a:xfrm>
            <a:off x="7000969" y="4531022"/>
            <a:ext cx="1007780" cy="273844"/>
          </a:xfrm>
          <a:prstGeom prst="rect">
            <a:avLst/>
          </a:prstGeom>
        </p:spPr>
        <p:txBody>
          <a:bodyPr vert="horz" lIns="91440" tIns="45720" rIns="91440" bIns="45720" rtlCol="0" anchor="b"/>
          <a:lstStyle>
            <a:lvl1pPr algn="r">
              <a:defRPr sz="675">
                <a:solidFill>
                  <a:schemeClr val="tx1"/>
                </a:solidFill>
              </a:defRPr>
            </a:lvl1pPr>
          </a:lstStyle>
          <a:p>
            <a:fld id="{09B482E8-6E0E-1B4F-B1FD-C69DB9E858D9}" type="datetimeFigureOut">
              <a:rPr lang="en-US" dirty="0"/>
              <a:pPr/>
              <a:t>4/15/26</a:t>
            </a:fld>
            <a:endParaRPr lang="en-US" dirty="0"/>
          </a:p>
        </p:txBody>
      </p:sp>
      <p:sp>
        <p:nvSpPr>
          <p:cNvPr id="6" name="Slide Number Placeholder 5"/>
          <p:cNvSpPr>
            <a:spLocks noGrp="1"/>
          </p:cNvSpPr>
          <p:nvPr>
            <p:ph type="sldNum" sz="quarter" idx="4"/>
          </p:nvPr>
        </p:nvSpPr>
        <p:spPr>
          <a:xfrm>
            <a:off x="8008749" y="4436917"/>
            <a:ext cx="796616" cy="367949"/>
          </a:xfrm>
          <a:prstGeom prst="rect">
            <a:avLst/>
          </a:prstGeom>
        </p:spPr>
        <p:txBody>
          <a:bodyPr vert="horz" lIns="91440" tIns="45720" rIns="91440" bIns="10800" rtlCol="0" anchor="b"/>
          <a:lstStyle>
            <a:lvl1pPr algn="r">
              <a:defRPr sz="15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71656761"/>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Lst>
  <p:hf sldNum="0" hdr="0" ftr="0" dt="0"/>
  <p:txStyles>
    <p:titleStyle>
      <a:lvl1pPr algn="l" defTabSz="342900" rtl="0" eaLnBrk="1" latinLnBrk="0" hangingPunct="1">
        <a:spcBef>
          <a:spcPct val="0"/>
        </a:spcBef>
        <a:buNone/>
        <a:defRPr sz="3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ct val="20000"/>
        </a:spcBef>
        <a:spcAft>
          <a:spcPts val="450"/>
        </a:spcAft>
        <a:buClr>
          <a:schemeClr val="accent1"/>
        </a:buClr>
        <a:buFont typeface="Wingdings 2" charset="2"/>
        <a:buChar char=""/>
        <a:defRPr sz="1350" kern="1200">
          <a:solidFill>
            <a:schemeClr val="tx1"/>
          </a:solidFill>
          <a:latin typeface="+mn-lt"/>
          <a:ea typeface="+mn-ea"/>
          <a:cs typeface="+mn-cs"/>
        </a:defRPr>
      </a:lvl1pPr>
      <a:lvl2pPr marL="557213" indent="-214313" algn="l" defTabSz="342900" rtl="0" eaLnBrk="1" latinLnBrk="0" hangingPunct="1">
        <a:spcBef>
          <a:spcPct val="20000"/>
        </a:spcBef>
        <a:spcAft>
          <a:spcPts val="450"/>
        </a:spcAft>
        <a:buClr>
          <a:schemeClr val="accent1"/>
        </a:buClr>
        <a:buFont typeface="Wingdings 2" charset="2"/>
        <a:buChar char=""/>
        <a:defRPr sz="1200" kern="1200">
          <a:solidFill>
            <a:schemeClr val="tx1"/>
          </a:solidFill>
          <a:latin typeface="+mn-lt"/>
          <a:ea typeface="+mn-ea"/>
          <a:cs typeface="+mn-cs"/>
        </a:defRPr>
      </a:lvl2pPr>
      <a:lvl3pPr marL="857250" indent="-171450" algn="l" defTabSz="342900" rtl="0" eaLnBrk="1" latinLnBrk="0" hangingPunct="1">
        <a:spcBef>
          <a:spcPct val="20000"/>
        </a:spcBef>
        <a:spcAft>
          <a:spcPts val="450"/>
        </a:spcAft>
        <a:buClr>
          <a:schemeClr val="accent1"/>
        </a:buClr>
        <a:buFont typeface="Wingdings 2" charset="2"/>
        <a:buChar char=""/>
        <a:defRPr sz="1050" kern="1200">
          <a:solidFill>
            <a:schemeClr val="tx1"/>
          </a:solidFill>
          <a:latin typeface="+mn-lt"/>
          <a:ea typeface="+mn-ea"/>
          <a:cs typeface="+mn-cs"/>
        </a:defRPr>
      </a:lvl3pPr>
      <a:lvl4pPr marL="120015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4pPr>
      <a:lvl5pPr marL="154305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5pPr>
      <a:lvl6pPr marL="18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6pPr>
      <a:lvl7pPr marL="21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7pPr>
      <a:lvl8pPr marL="24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8pPr>
      <a:lvl9pPr marL="2700000" indent="-171450" algn="l" defTabSz="342900" rtl="0" eaLnBrk="1" latinLnBrk="0" hangingPunct="1">
        <a:spcBef>
          <a:spcPct val="20000"/>
        </a:spcBef>
        <a:spcAft>
          <a:spcPts val="450"/>
        </a:spcAft>
        <a:buClr>
          <a:schemeClr val="accent1"/>
        </a:buClr>
        <a:buFont typeface="Wingdings 2" charset="2"/>
        <a:buChar char=""/>
        <a:defRPr sz="9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5.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3291840"/>
          </a:xfrm>
          <a:prstGeom prst="rect">
            <a:avLst/>
          </a:prstGeom>
          <a:solidFill>
            <a:srgbClr val="0D9488"/>
          </a:solidFill>
          <a:ln/>
        </p:spPr>
        <p:txBody>
          <a:bodyPr/>
          <a:lstStyle/>
          <a:p>
            <a:endParaRPr lang="en-US" dirty="0"/>
          </a:p>
        </p:txBody>
      </p:sp>
      <p:sp>
        <p:nvSpPr>
          <p:cNvPr id="3" name="Shape 1"/>
          <p:cNvSpPr/>
          <p:nvPr/>
        </p:nvSpPr>
        <p:spPr>
          <a:xfrm>
            <a:off x="0" y="0"/>
            <a:ext cx="5486400" cy="3291840"/>
          </a:xfrm>
          <a:prstGeom prst="rect">
            <a:avLst/>
          </a:prstGeom>
          <a:solidFill>
            <a:srgbClr val="2DD4BF">
              <a:alpha val="75000"/>
            </a:srgbClr>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863840" y="274320"/>
            <a:ext cx="822960" cy="822960"/>
          </a:xfrm>
          <a:prstGeom prst="rect">
            <a:avLst/>
          </a:prstGeom>
        </p:spPr>
      </p:pic>
      <p:sp>
        <p:nvSpPr>
          <p:cNvPr id="5" name="Text 2"/>
          <p:cNvSpPr/>
          <p:nvPr/>
        </p:nvSpPr>
        <p:spPr>
          <a:xfrm>
            <a:off x="548640" y="457200"/>
            <a:ext cx="7772400" cy="2377440"/>
          </a:xfrm>
          <a:prstGeom prst="rect">
            <a:avLst/>
          </a:prstGeom>
          <a:noFill/>
          <a:ln/>
        </p:spPr>
        <p:txBody>
          <a:bodyPr wrap="square" lIns="0" tIns="0" rIns="0" bIns="0" rtlCol="0" anchor="ctr"/>
          <a:lstStyle/>
          <a:p>
            <a:pPr marL="0" indent="0">
              <a:lnSpc>
                <a:spcPct val="115000"/>
              </a:lnSpc>
              <a:buNone/>
            </a:pPr>
            <a:r>
              <a:rPr lang="en-US" sz="3400" b="1" dirty="0">
                <a:solidFill>
                  <a:srgbClr val="FFFFFF"/>
                </a:solidFill>
                <a:latin typeface="Trebuchet MS" pitchFamily="34" charset="0"/>
                <a:ea typeface="Trebuchet MS" pitchFamily="34" charset="-122"/>
                <a:cs typeface="Trebuchet MS" pitchFamily="34" charset="-120"/>
              </a:rPr>
              <a:t>Analysis of Data Leakage</a:t>
            </a:r>
            <a:endParaRPr lang="en-US" sz="3400" dirty="0"/>
          </a:p>
          <a:p>
            <a:pPr marL="0" indent="0">
              <a:lnSpc>
                <a:spcPct val="115000"/>
              </a:lnSpc>
              <a:buNone/>
            </a:pPr>
            <a:r>
              <a:rPr lang="en-US" sz="3400" b="1" dirty="0">
                <a:solidFill>
                  <a:srgbClr val="FFFFFF"/>
                </a:solidFill>
                <a:latin typeface="Trebuchet MS" pitchFamily="34" charset="0"/>
                <a:ea typeface="Trebuchet MS" pitchFamily="34" charset="-122"/>
                <a:cs typeface="Trebuchet MS" pitchFamily="34" charset="-120"/>
              </a:rPr>
              <a:t>Risks in Tor Exit Nodes via</a:t>
            </a:r>
            <a:endParaRPr lang="en-US" sz="3400" dirty="0"/>
          </a:p>
          <a:p>
            <a:pPr marL="0" indent="0">
              <a:lnSpc>
                <a:spcPct val="115000"/>
              </a:lnSpc>
              <a:buNone/>
            </a:pPr>
            <a:r>
              <a:rPr lang="en-US" sz="3400" b="1" dirty="0">
                <a:solidFill>
                  <a:srgbClr val="FFFFFF"/>
                </a:solidFill>
                <a:latin typeface="Trebuchet MS" pitchFamily="34" charset="0"/>
                <a:ea typeface="Trebuchet MS" pitchFamily="34" charset="-122"/>
                <a:cs typeface="Trebuchet MS" pitchFamily="34" charset="-120"/>
              </a:rPr>
              <a:t>Man-in-the-Middle Attacks</a:t>
            </a:r>
            <a:endParaRPr lang="en-US" sz="3400" dirty="0"/>
          </a:p>
        </p:txBody>
      </p:sp>
      <p:sp>
        <p:nvSpPr>
          <p:cNvPr id="6" name="Text 3"/>
          <p:cNvSpPr/>
          <p:nvPr/>
        </p:nvSpPr>
        <p:spPr>
          <a:xfrm>
            <a:off x="548640" y="3474720"/>
            <a:ext cx="5486400" cy="457200"/>
          </a:xfrm>
          <a:prstGeom prst="rect">
            <a:avLst/>
          </a:prstGeom>
          <a:noFill/>
          <a:ln/>
        </p:spPr>
        <p:txBody>
          <a:bodyPr wrap="square" lIns="0" tIns="0" rIns="0" bIns="0" rtlCol="0" anchor="ctr"/>
          <a:lstStyle/>
          <a:p>
            <a:pPr marL="0" indent="0">
              <a:buNone/>
            </a:pPr>
            <a:r>
              <a:rPr lang="en-US" sz="1400" dirty="0">
                <a:solidFill>
                  <a:srgbClr val="2DD4BF"/>
                </a:solidFill>
                <a:latin typeface="Calibri" pitchFamily="34" charset="0"/>
                <a:ea typeface="Calibri" pitchFamily="34" charset="-122"/>
                <a:cs typeface="Calibri" pitchFamily="34" charset="-120"/>
              </a:rPr>
              <a:t>CAP 6135 |  Final Presentation</a:t>
            </a:r>
            <a:endParaRPr lang="en-US" sz="1400" dirty="0"/>
          </a:p>
        </p:txBody>
      </p:sp>
      <p:sp>
        <p:nvSpPr>
          <p:cNvPr id="7" name="Text 4"/>
          <p:cNvSpPr/>
          <p:nvPr/>
        </p:nvSpPr>
        <p:spPr>
          <a:xfrm>
            <a:off x="548640" y="3931920"/>
            <a:ext cx="5486400" cy="45720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Eonshik Kim  &amp;  Paul Shanklin</a:t>
            </a:r>
            <a:endParaRPr lang="en-US" sz="1600" dirty="0"/>
          </a:p>
        </p:txBody>
      </p:sp>
      <p:sp>
        <p:nvSpPr>
          <p:cNvPr id="8" name="Text 5"/>
          <p:cNvSpPr/>
          <p:nvPr/>
        </p:nvSpPr>
        <p:spPr>
          <a:xfrm>
            <a:off x="548640" y="4343400"/>
            <a:ext cx="5486400" cy="365760"/>
          </a:xfrm>
          <a:prstGeom prst="rect">
            <a:avLst/>
          </a:prstGeom>
          <a:noFill/>
          <a:ln/>
        </p:spPr>
        <p:txBody>
          <a:bodyPr wrap="square" lIns="0" tIns="0" rIns="0" bIns="0" rtlCol="0" anchor="ctr"/>
          <a:lstStyle/>
          <a:p>
            <a:pPr marL="0" indent="0">
              <a:buNone/>
            </a:pPr>
            <a:r>
              <a:rPr lang="en-US" sz="1200" dirty="0">
                <a:solidFill>
                  <a:srgbClr val="A1A1AA"/>
                </a:solidFill>
                <a:latin typeface="Calibri" pitchFamily="34" charset="0"/>
                <a:ea typeface="Calibri" pitchFamily="34" charset="-122"/>
                <a:cs typeface="Calibri" pitchFamily="34" charset="-120"/>
              </a:rPr>
              <a:t>University of Central Florida  |  Spring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Agenda</a:t>
            </a:r>
            <a:endParaRPr lang="en-US" sz="3000" dirty="0"/>
          </a:p>
        </p:txBody>
      </p:sp>
      <p:sp>
        <p:nvSpPr>
          <p:cNvPr id="5" name="Shape 3"/>
          <p:cNvSpPr/>
          <p:nvPr/>
        </p:nvSpPr>
        <p:spPr>
          <a:xfrm>
            <a:off x="548640" y="1325880"/>
            <a:ext cx="8046720" cy="3657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6" name="Text 4"/>
          <p:cNvSpPr/>
          <p:nvPr/>
        </p:nvSpPr>
        <p:spPr>
          <a:xfrm>
            <a:off x="685800" y="1335024"/>
            <a:ext cx="365760" cy="347472"/>
          </a:xfrm>
          <a:prstGeom prst="rect">
            <a:avLst/>
          </a:prstGeom>
          <a:noFill/>
          <a:ln/>
        </p:spPr>
        <p:txBody>
          <a:bodyPr wrap="square" lIns="0" tIns="0" rIns="0" bIns="0" rtlCol="0" anchor="ctr"/>
          <a:lstStyle/>
          <a:p>
            <a:pPr marL="0" indent="0" algn="ctr">
              <a:buNone/>
            </a:pPr>
            <a:r>
              <a:rPr lang="en-US" sz="1600" b="1" dirty="0">
                <a:solidFill>
                  <a:srgbClr val="2DD4BF"/>
                </a:solidFill>
                <a:latin typeface="Trebuchet MS" pitchFamily="34" charset="0"/>
                <a:ea typeface="Trebuchet MS" pitchFamily="34" charset="-122"/>
                <a:cs typeface="Trebuchet MS" pitchFamily="34" charset="-120"/>
              </a:rPr>
              <a:t>1</a:t>
            </a:r>
            <a:endParaRPr lang="en-US" sz="1600" dirty="0"/>
          </a:p>
        </p:txBody>
      </p:sp>
      <p:sp>
        <p:nvSpPr>
          <p:cNvPr id="7" name="Text 5"/>
          <p:cNvSpPr/>
          <p:nvPr/>
        </p:nvSpPr>
        <p:spPr>
          <a:xfrm>
            <a:off x="1143000" y="1335024"/>
            <a:ext cx="68580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Background &amp; Problem Statement</a:t>
            </a:r>
            <a:endParaRPr lang="en-US" sz="1500" dirty="0"/>
          </a:p>
        </p:txBody>
      </p:sp>
      <p:sp>
        <p:nvSpPr>
          <p:cNvPr id="8" name="Shape 6"/>
          <p:cNvSpPr/>
          <p:nvPr/>
        </p:nvSpPr>
        <p:spPr>
          <a:xfrm>
            <a:off x="548640" y="1764792"/>
            <a:ext cx="8046720" cy="3657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9" name="Text 7"/>
          <p:cNvSpPr/>
          <p:nvPr/>
        </p:nvSpPr>
        <p:spPr>
          <a:xfrm>
            <a:off x="685800" y="1773936"/>
            <a:ext cx="365760" cy="347472"/>
          </a:xfrm>
          <a:prstGeom prst="rect">
            <a:avLst/>
          </a:prstGeom>
          <a:noFill/>
          <a:ln/>
        </p:spPr>
        <p:txBody>
          <a:bodyPr wrap="square" lIns="0" tIns="0" rIns="0" bIns="0" rtlCol="0" anchor="ctr"/>
          <a:lstStyle/>
          <a:p>
            <a:pPr marL="0" indent="0" algn="ctr">
              <a:buNone/>
            </a:pPr>
            <a:r>
              <a:rPr lang="en-US" sz="1600" b="1" dirty="0">
                <a:solidFill>
                  <a:srgbClr val="2DD4BF"/>
                </a:solidFill>
                <a:latin typeface="Trebuchet MS" pitchFamily="34" charset="0"/>
                <a:ea typeface="Trebuchet MS" pitchFamily="34" charset="-122"/>
                <a:cs typeface="Trebuchet MS" pitchFamily="34" charset="-120"/>
              </a:rPr>
              <a:t>2</a:t>
            </a:r>
            <a:endParaRPr lang="en-US" sz="1600" dirty="0"/>
          </a:p>
        </p:txBody>
      </p:sp>
      <p:sp>
        <p:nvSpPr>
          <p:cNvPr id="10" name="Text 8"/>
          <p:cNvSpPr/>
          <p:nvPr/>
        </p:nvSpPr>
        <p:spPr>
          <a:xfrm>
            <a:off x="1143000" y="1773936"/>
            <a:ext cx="68580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Methodology — Lab Environment &amp; Configuration</a:t>
            </a:r>
            <a:endParaRPr lang="en-US" sz="1500" dirty="0"/>
          </a:p>
        </p:txBody>
      </p:sp>
      <p:sp>
        <p:nvSpPr>
          <p:cNvPr id="11" name="Shape 9"/>
          <p:cNvSpPr/>
          <p:nvPr/>
        </p:nvSpPr>
        <p:spPr>
          <a:xfrm>
            <a:off x="548640" y="2203704"/>
            <a:ext cx="8046720" cy="3657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2" name="Text 10"/>
          <p:cNvSpPr/>
          <p:nvPr/>
        </p:nvSpPr>
        <p:spPr>
          <a:xfrm>
            <a:off x="685800" y="2212848"/>
            <a:ext cx="365760" cy="347472"/>
          </a:xfrm>
          <a:prstGeom prst="rect">
            <a:avLst/>
          </a:prstGeom>
          <a:noFill/>
          <a:ln/>
        </p:spPr>
        <p:txBody>
          <a:bodyPr wrap="square" lIns="0" tIns="0" rIns="0" bIns="0" rtlCol="0" anchor="ctr"/>
          <a:lstStyle/>
          <a:p>
            <a:pPr marL="0" indent="0" algn="ctr">
              <a:buNone/>
            </a:pPr>
            <a:r>
              <a:rPr lang="en-US" sz="1600" b="1" dirty="0">
                <a:solidFill>
                  <a:srgbClr val="2DD4BF"/>
                </a:solidFill>
                <a:latin typeface="Trebuchet MS" pitchFamily="34" charset="0"/>
                <a:ea typeface="Trebuchet MS" pitchFamily="34" charset="-122"/>
                <a:cs typeface="Trebuchet MS" pitchFamily="34" charset="-120"/>
              </a:rPr>
              <a:t>3</a:t>
            </a:r>
            <a:endParaRPr lang="en-US" sz="1600" dirty="0"/>
          </a:p>
        </p:txBody>
      </p:sp>
      <p:sp>
        <p:nvSpPr>
          <p:cNvPr id="13" name="Text 11"/>
          <p:cNvSpPr/>
          <p:nvPr/>
        </p:nvSpPr>
        <p:spPr>
          <a:xfrm>
            <a:off x="1143000" y="2212848"/>
            <a:ext cx="68580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Attack Simulation Process</a:t>
            </a:r>
            <a:endParaRPr lang="en-US" sz="1500" dirty="0"/>
          </a:p>
        </p:txBody>
      </p:sp>
      <p:sp>
        <p:nvSpPr>
          <p:cNvPr id="14" name="Shape 12"/>
          <p:cNvSpPr/>
          <p:nvPr/>
        </p:nvSpPr>
        <p:spPr>
          <a:xfrm>
            <a:off x="548640" y="2642616"/>
            <a:ext cx="8046720" cy="3657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5" name="Text 13"/>
          <p:cNvSpPr/>
          <p:nvPr/>
        </p:nvSpPr>
        <p:spPr>
          <a:xfrm>
            <a:off x="685800" y="2651760"/>
            <a:ext cx="365760" cy="347472"/>
          </a:xfrm>
          <a:prstGeom prst="rect">
            <a:avLst/>
          </a:prstGeom>
          <a:noFill/>
          <a:ln/>
        </p:spPr>
        <p:txBody>
          <a:bodyPr wrap="square" lIns="0" tIns="0" rIns="0" bIns="0" rtlCol="0" anchor="ctr"/>
          <a:lstStyle/>
          <a:p>
            <a:pPr marL="0" indent="0" algn="ctr">
              <a:buNone/>
            </a:pPr>
            <a:r>
              <a:rPr lang="en-US" sz="1600" b="1" dirty="0">
                <a:solidFill>
                  <a:srgbClr val="2DD4BF"/>
                </a:solidFill>
                <a:latin typeface="Trebuchet MS" pitchFamily="34" charset="0"/>
                <a:ea typeface="Trebuchet MS" pitchFamily="34" charset="-122"/>
                <a:cs typeface="Trebuchet MS" pitchFamily="34" charset="-120"/>
              </a:rPr>
              <a:t>4</a:t>
            </a:r>
            <a:endParaRPr lang="en-US" sz="1600" dirty="0"/>
          </a:p>
        </p:txBody>
      </p:sp>
      <p:sp>
        <p:nvSpPr>
          <p:cNvPr id="16" name="Text 14"/>
          <p:cNvSpPr/>
          <p:nvPr/>
        </p:nvSpPr>
        <p:spPr>
          <a:xfrm>
            <a:off x="1143000" y="2651760"/>
            <a:ext cx="68580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Evaluation &amp; Results</a:t>
            </a:r>
            <a:endParaRPr lang="en-US" sz="1500" dirty="0"/>
          </a:p>
        </p:txBody>
      </p:sp>
      <p:sp>
        <p:nvSpPr>
          <p:cNvPr id="17" name="Shape 15"/>
          <p:cNvSpPr/>
          <p:nvPr/>
        </p:nvSpPr>
        <p:spPr>
          <a:xfrm>
            <a:off x="548640" y="3081528"/>
            <a:ext cx="8046720" cy="3657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8" name="Text 16"/>
          <p:cNvSpPr/>
          <p:nvPr/>
        </p:nvSpPr>
        <p:spPr>
          <a:xfrm>
            <a:off x="685800" y="3090672"/>
            <a:ext cx="365760" cy="347472"/>
          </a:xfrm>
          <a:prstGeom prst="rect">
            <a:avLst/>
          </a:prstGeom>
          <a:noFill/>
          <a:ln/>
        </p:spPr>
        <p:txBody>
          <a:bodyPr wrap="square" lIns="0" tIns="0" rIns="0" bIns="0" rtlCol="0" anchor="ctr"/>
          <a:lstStyle/>
          <a:p>
            <a:pPr marL="0" indent="0" algn="ctr">
              <a:buNone/>
            </a:pPr>
            <a:r>
              <a:rPr lang="en-US" sz="1600" b="1" dirty="0">
                <a:solidFill>
                  <a:srgbClr val="2DD4BF"/>
                </a:solidFill>
                <a:latin typeface="Trebuchet MS" pitchFamily="34" charset="0"/>
                <a:ea typeface="Trebuchet MS" pitchFamily="34" charset="-122"/>
                <a:cs typeface="Trebuchet MS" pitchFamily="34" charset="-120"/>
              </a:rPr>
              <a:t>5</a:t>
            </a:r>
            <a:endParaRPr lang="en-US" sz="1600" dirty="0"/>
          </a:p>
        </p:txBody>
      </p:sp>
      <p:sp>
        <p:nvSpPr>
          <p:cNvPr id="19" name="Text 17"/>
          <p:cNvSpPr/>
          <p:nvPr/>
        </p:nvSpPr>
        <p:spPr>
          <a:xfrm>
            <a:off x="1143000" y="3090672"/>
            <a:ext cx="68580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HTTPS Comparison &amp; Code Demo</a:t>
            </a:r>
            <a:endParaRPr lang="en-US" sz="1500" dirty="0"/>
          </a:p>
        </p:txBody>
      </p:sp>
      <p:sp>
        <p:nvSpPr>
          <p:cNvPr id="20" name="Shape 18"/>
          <p:cNvSpPr/>
          <p:nvPr/>
        </p:nvSpPr>
        <p:spPr>
          <a:xfrm>
            <a:off x="548640" y="3520440"/>
            <a:ext cx="8046720" cy="3657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21" name="Text 19"/>
          <p:cNvSpPr/>
          <p:nvPr/>
        </p:nvSpPr>
        <p:spPr>
          <a:xfrm>
            <a:off x="685800" y="3529584"/>
            <a:ext cx="365760" cy="347472"/>
          </a:xfrm>
          <a:prstGeom prst="rect">
            <a:avLst/>
          </a:prstGeom>
          <a:noFill/>
          <a:ln/>
        </p:spPr>
        <p:txBody>
          <a:bodyPr wrap="square" lIns="0" tIns="0" rIns="0" bIns="0" rtlCol="0" anchor="ctr"/>
          <a:lstStyle/>
          <a:p>
            <a:pPr marL="0" indent="0" algn="ctr">
              <a:buNone/>
            </a:pPr>
            <a:r>
              <a:rPr lang="en-US" sz="1600" b="1" dirty="0">
                <a:solidFill>
                  <a:srgbClr val="2DD4BF"/>
                </a:solidFill>
                <a:latin typeface="Trebuchet MS" pitchFamily="34" charset="0"/>
                <a:ea typeface="Trebuchet MS" pitchFamily="34" charset="-122"/>
                <a:cs typeface="Trebuchet MS" pitchFamily="34" charset="-120"/>
              </a:rPr>
              <a:t>6</a:t>
            </a:r>
            <a:endParaRPr lang="en-US" sz="1600" dirty="0"/>
          </a:p>
        </p:txBody>
      </p:sp>
      <p:sp>
        <p:nvSpPr>
          <p:cNvPr id="22" name="Text 20"/>
          <p:cNvSpPr/>
          <p:nvPr/>
        </p:nvSpPr>
        <p:spPr>
          <a:xfrm>
            <a:off x="1143000" y="3529584"/>
            <a:ext cx="68580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Discussion &amp; Challenges</a:t>
            </a:r>
            <a:endParaRPr lang="en-US" sz="1500" dirty="0"/>
          </a:p>
        </p:txBody>
      </p:sp>
      <p:sp>
        <p:nvSpPr>
          <p:cNvPr id="23" name="Shape 21"/>
          <p:cNvSpPr/>
          <p:nvPr/>
        </p:nvSpPr>
        <p:spPr>
          <a:xfrm>
            <a:off x="548640" y="3959352"/>
            <a:ext cx="8046720" cy="3657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24" name="Text 22"/>
          <p:cNvSpPr/>
          <p:nvPr/>
        </p:nvSpPr>
        <p:spPr>
          <a:xfrm>
            <a:off x="685800" y="3968496"/>
            <a:ext cx="365760" cy="347472"/>
          </a:xfrm>
          <a:prstGeom prst="rect">
            <a:avLst/>
          </a:prstGeom>
          <a:noFill/>
          <a:ln/>
        </p:spPr>
        <p:txBody>
          <a:bodyPr wrap="square" lIns="0" tIns="0" rIns="0" bIns="0" rtlCol="0" anchor="ctr"/>
          <a:lstStyle/>
          <a:p>
            <a:pPr marL="0" indent="0" algn="ctr">
              <a:buNone/>
            </a:pPr>
            <a:r>
              <a:rPr lang="en-US" sz="1600" b="1" dirty="0">
                <a:solidFill>
                  <a:srgbClr val="2DD4BF"/>
                </a:solidFill>
                <a:latin typeface="Trebuchet MS" pitchFamily="34" charset="0"/>
                <a:ea typeface="Trebuchet MS" pitchFamily="34" charset="-122"/>
                <a:cs typeface="Trebuchet MS" pitchFamily="34" charset="-120"/>
              </a:rPr>
              <a:t>7</a:t>
            </a:r>
            <a:endParaRPr lang="en-US" sz="1600" dirty="0"/>
          </a:p>
        </p:txBody>
      </p:sp>
      <p:sp>
        <p:nvSpPr>
          <p:cNvPr id="25" name="Text 23"/>
          <p:cNvSpPr/>
          <p:nvPr/>
        </p:nvSpPr>
        <p:spPr>
          <a:xfrm>
            <a:off x="1143000" y="3968496"/>
            <a:ext cx="68580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Limitation &amp; Future Work</a:t>
            </a:r>
            <a:endParaRPr lang="en-US" sz="1500" dirty="0"/>
          </a:p>
        </p:txBody>
      </p:sp>
      <p:sp>
        <p:nvSpPr>
          <p:cNvPr id="26" name="Shape 24"/>
          <p:cNvSpPr/>
          <p:nvPr/>
        </p:nvSpPr>
        <p:spPr>
          <a:xfrm>
            <a:off x="548640" y="4398264"/>
            <a:ext cx="8046720" cy="3657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27" name="Text 25"/>
          <p:cNvSpPr/>
          <p:nvPr/>
        </p:nvSpPr>
        <p:spPr>
          <a:xfrm>
            <a:off x="685800" y="4407408"/>
            <a:ext cx="365760" cy="347472"/>
          </a:xfrm>
          <a:prstGeom prst="rect">
            <a:avLst/>
          </a:prstGeom>
          <a:noFill/>
          <a:ln/>
        </p:spPr>
        <p:txBody>
          <a:bodyPr wrap="square" lIns="0" tIns="0" rIns="0" bIns="0" rtlCol="0" anchor="ctr"/>
          <a:lstStyle/>
          <a:p>
            <a:pPr marL="0" indent="0" algn="ctr">
              <a:buNone/>
            </a:pPr>
            <a:r>
              <a:rPr lang="en-US" sz="1600" b="1" dirty="0">
                <a:solidFill>
                  <a:srgbClr val="2DD4BF"/>
                </a:solidFill>
                <a:latin typeface="Trebuchet MS" pitchFamily="34" charset="0"/>
                <a:ea typeface="Trebuchet MS" pitchFamily="34" charset="-122"/>
                <a:cs typeface="Trebuchet MS" pitchFamily="34" charset="-120"/>
              </a:rPr>
              <a:t>8</a:t>
            </a:r>
            <a:endParaRPr lang="en-US" sz="1600" dirty="0"/>
          </a:p>
        </p:txBody>
      </p:sp>
      <p:sp>
        <p:nvSpPr>
          <p:cNvPr id="28" name="Text 26"/>
          <p:cNvSpPr/>
          <p:nvPr/>
        </p:nvSpPr>
        <p:spPr>
          <a:xfrm>
            <a:off x="1143000" y="4407408"/>
            <a:ext cx="6858000" cy="347472"/>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Conclusion</a:t>
            </a:r>
            <a:endParaRPr lang="en-US" sz="1500" dirty="0"/>
          </a:p>
        </p:txBody>
      </p:sp>
    </p:spTree>
    <p:extLst>
      <p:ext uri="{BB962C8B-B14F-4D97-AF65-F5344CB8AC3E}">
        <p14:creationId xmlns:p14="http://schemas.microsoft.com/office/powerpoint/2010/main" val="2730109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dirty="0"/>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Background: How Tor Works</a:t>
            </a:r>
            <a:endParaRPr lang="en-US" sz="3000" dirty="0"/>
          </a:p>
        </p:txBody>
      </p:sp>
      <p:sp>
        <p:nvSpPr>
          <p:cNvPr id="5" name="Shape 3"/>
          <p:cNvSpPr/>
          <p:nvPr/>
        </p:nvSpPr>
        <p:spPr>
          <a:xfrm>
            <a:off x="548640" y="1371600"/>
            <a:ext cx="2560320" cy="237744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7" name="Text 4"/>
          <p:cNvSpPr/>
          <p:nvPr/>
        </p:nvSpPr>
        <p:spPr>
          <a:xfrm>
            <a:off x="685800" y="2148840"/>
            <a:ext cx="2286000" cy="365760"/>
          </a:xfrm>
          <a:prstGeom prst="rect">
            <a:avLst/>
          </a:prstGeom>
          <a:noFill/>
          <a:ln/>
        </p:spPr>
        <p:txBody>
          <a:bodyPr wrap="square" lIns="0" tIns="0" rIns="0" bIns="0" rtlCol="0" anchor="ctr"/>
          <a:lstStyle/>
          <a:p>
            <a:pPr marL="0" indent="0" algn="ctr">
              <a:buNone/>
            </a:pPr>
            <a:r>
              <a:rPr lang="en-US" sz="1600" b="1" dirty="0">
                <a:solidFill>
                  <a:srgbClr val="2DD4BF"/>
                </a:solidFill>
                <a:latin typeface="Trebuchet MS" pitchFamily="34" charset="0"/>
                <a:ea typeface="Trebuchet MS" pitchFamily="34" charset="-122"/>
                <a:cs typeface="Trebuchet MS" pitchFamily="34" charset="-120"/>
              </a:rPr>
              <a:t>Guard Node</a:t>
            </a:r>
            <a:endParaRPr lang="en-US" sz="1600" dirty="0"/>
          </a:p>
        </p:txBody>
      </p:sp>
      <p:sp>
        <p:nvSpPr>
          <p:cNvPr id="8" name="Text 5"/>
          <p:cNvSpPr/>
          <p:nvPr/>
        </p:nvSpPr>
        <p:spPr>
          <a:xfrm>
            <a:off x="685800" y="2514600"/>
            <a:ext cx="2286000" cy="1005840"/>
          </a:xfrm>
          <a:prstGeom prst="rect">
            <a:avLst/>
          </a:prstGeom>
          <a:noFill/>
          <a:ln/>
        </p:spPr>
        <p:txBody>
          <a:bodyPr wrap="square" lIns="0" tIns="0" rIns="0" bIns="0" rtlCol="0" anchor="ctr"/>
          <a:lstStyle/>
          <a:p>
            <a:pPr marL="0" indent="0" algn="ctr">
              <a:buNone/>
            </a:pPr>
            <a:r>
              <a:rPr lang="en-US" sz="1200" dirty="0">
                <a:solidFill>
                  <a:srgbClr val="A1A1AA"/>
                </a:solidFill>
                <a:latin typeface="Calibri" pitchFamily="34" charset="0"/>
                <a:ea typeface="Calibri" pitchFamily="34" charset="-122"/>
                <a:cs typeface="Calibri" pitchFamily="34" charset="-120"/>
              </a:rPr>
              <a:t>Receives user traffic,</a:t>
            </a:r>
            <a:endParaRPr lang="en-US" sz="1200" dirty="0"/>
          </a:p>
          <a:p>
            <a:pPr marL="0" indent="0" algn="ctr">
              <a:buNone/>
            </a:pPr>
            <a:r>
              <a:rPr lang="en-US" sz="1200" dirty="0">
                <a:solidFill>
                  <a:srgbClr val="A1A1AA"/>
                </a:solidFill>
                <a:latin typeface="Calibri" pitchFamily="34" charset="0"/>
                <a:ea typeface="Calibri" pitchFamily="34" charset="-122"/>
                <a:cs typeface="Calibri" pitchFamily="34" charset="-120"/>
              </a:rPr>
              <a:t>strips outermost</a:t>
            </a:r>
            <a:endParaRPr lang="en-US" sz="1200" dirty="0"/>
          </a:p>
          <a:p>
            <a:pPr marL="0" indent="0" algn="ctr">
              <a:buNone/>
            </a:pPr>
            <a:r>
              <a:rPr lang="en-US" sz="1200" dirty="0">
                <a:solidFill>
                  <a:srgbClr val="A1A1AA"/>
                </a:solidFill>
                <a:latin typeface="Calibri" pitchFamily="34" charset="0"/>
                <a:ea typeface="Calibri" pitchFamily="34" charset="-122"/>
                <a:cs typeface="Calibri" pitchFamily="34" charset="-120"/>
              </a:rPr>
              <a:t>encryption layer</a:t>
            </a:r>
            <a:endParaRPr lang="en-US" sz="1200" dirty="0"/>
          </a:p>
        </p:txBody>
      </p:sp>
      <p:pic>
        <p:nvPicPr>
          <p:cNvPr id="9" name="Image 1" descr="preencoded.png"/>
          <p:cNvPicPr>
            <a:picLocks noChangeAspect="1"/>
          </p:cNvPicPr>
          <p:nvPr/>
        </p:nvPicPr>
        <p:blipFill>
          <a:blip r:embed="rId3"/>
          <a:stretch>
            <a:fillRect/>
          </a:stretch>
        </p:blipFill>
        <p:spPr>
          <a:xfrm>
            <a:off x="3154680" y="2240280"/>
            <a:ext cx="274320" cy="274320"/>
          </a:xfrm>
          <a:prstGeom prst="rect">
            <a:avLst/>
          </a:prstGeom>
        </p:spPr>
      </p:pic>
      <p:sp>
        <p:nvSpPr>
          <p:cNvPr id="10" name="Shape 6"/>
          <p:cNvSpPr/>
          <p:nvPr/>
        </p:nvSpPr>
        <p:spPr>
          <a:xfrm>
            <a:off x="3429000" y="1371600"/>
            <a:ext cx="2560320" cy="237744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2" name="Text 7"/>
          <p:cNvSpPr/>
          <p:nvPr/>
        </p:nvSpPr>
        <p:spPr>
          <a:xfrm>
            <a:off x="3566160" y="2148840"/>
            <a:ext cx="2286000" cy="365760"/>
          </a:xfrm>
          <a:prstGeom prst="rect">
            <a:avLst/>
          </a:prstGeom>
          <a:noFill/>
          <a:ln/>
        </p:spPr>
        <p:txBody>
          <a:bodyPr wrap="square" lIns="0" tIns="0" rIns="0" bIns="0" rtlCol="0" anchor="ctr"/>
          <a:lstStyle/>
          <a:p>
            <a:pPr marL="0" indent="0" algn="ctr">
              <a:buNone/>
            </a:pPr>
            <a:r>
              <a:rPr lang="en-US" sz="1600" b="1" dirty="0">
                <a:solidFill>
                  <a:srgbClr val="2DD4BF"/>
                </a:solidFill>
                <a:latin typeface="Trebuchet MS" pitchFamily="34" charset="0"/>
                <a:ea typeface="Trebuchet MS" pitchFamily="34" charset="-122"/>
                <a:cs typeface="Trebuchet MS" pitchFamily="34" charset="-120"/>
              </a:rPr>
              <a:t>Middle Node</a:t>
            </a:r>
            <a:endParaRPr lang="en-US" sz="1600" dirty="0"/>
          </a:p>
        </p:txBody>
      </p:sp>
      <p:sp>
        <p:nvSpPr>
          <p:cNvPr id="13" name="Text 8"/>
          <p:cNvSpPr/>
          <p:nvPr/>
        </p:nvSpPr>
        <p:spPr>
          <a:xfrm>
            <a:off x="3566160" y="2514600"/>
            <a:ext cx="2286000" cy="1005840"/>
          </a:xfrm>
          <a:prstGeom prst="rect">
            <a:avLst/>
          </a:prstGeom>
          <a:noFill/>
          <a:ln/>
        </p:spPr>
        <p:txBody>
          <a:bodyPr wrap="square" lIns="0" tIns="0" rIns="0" bIns="0" rtlCol="0" anchor="ctr"/>
          <a:lstStyle/>
          <a:p>
            <a:pPr marL="0" indent="0" algn="ctr">
              <a:buNone/>
            </a:pPr>
            <a:r>
              <a:rPr lang="en-US" sz="1200" dirty="0">
                <a:solidFill>
                  <a:srgbClr val="A1A1AA"/>
                </a:solidFill>
                <a:latin typeface="Calibri" pitchFamily="34" charset="0"/>
                <a:ea typeface="Calibri" pitchFamily="34" charset="-122"/>
                <a:cs typeface="Calibri" pitchFamily="34" charset="-120"/>
              </a:rPr>
              <a:t>Strips its layer,</a:t>
            </a:r>
            <a:endParaRPr lang="en-US" sz="1200" dirty="0"/>
          </a:p>
          <a:p>
            <a:pPr marL="0" indent="0" algn="ctr">
              <a:buNone/>
            </a:pPr>
            <a:r>
              <a:rPr lang="en-US" sz="1200" dirty="0">
                <a:solidFill>
                  <a:srgbClr val="A1A1AA"/>
                </a:solidFill>
                <a:latin typeface="Calibri" pitchFamily="34" charset="0"/>
                <a:ea typeface="Calibri" pitchFamily="34" charset="-122"/>
                <a:cs typeface="Calibri" pitchFamily="34" charset="-120"/>
              </a:rPr>
              <a:t>forwards to exit.</a:t>
            </a:r>
            <a:endParaRPr lang="en-US" sz="1200" dirty="0"/>
          </a:p>
          <a:p>
            <a:pPr marL="0" indent="0" algn="ctr">
              <a:buNone/>
            </a:pPr>
            <a:r>
              <a:rPr lang="en-US" sz="1200" dirty="0">
                <a:solidFill>
                  <a:srgbClr val="A1A1AA"/>
                </a:solidFill>
                <a:latin typeface="Calibri" pitchFamily="34" charset="0"/>
                <a:ea typeface="Calibri" pitchFamily="34" charset="-122"/>
                <a:cs typeface="Calibri" pitchFamily="34" charset="-120"/>
              </a:rPr>
              <a:t>Knows neither src/dst</a:t>
            </a:r>
            <a:endParaRPr lang="en-US" sz="1200" dirty="0"/>
          </a:p>
        </p:txBody>
      </p:sp>
      <p:pic>
        <p:nvPicPr>
          <p:cNvPr id="14" name="Image 3" descr="preencoded.png"/>
          <p:cNvPicPr>
            <a:picLocks noChangeAspect="1"/>
          </p:cNvPicPr>
          <p:nvPr/>
        </p:nvPicPr>
        <p:blipFill>
          <a:blip r:embed="rId3"/>
          <a:stretch>
            <a:fillRect/>
          </a:stretch>
        </p:blipFill>
        <p:spPr>
          <a:xfrm>
            <a:off x="6035040" y="2240280"/>
            <a:ext cx="274320" cy="274320"/>
          </a:xfrm>
          <a:prstGeom prst="rect">
            <a:avLst/>
          </a:prstGeom>
        </p:spPr>
      </p:pic>
      <p:sp>
        <p:nvSpPr>
          <p:cNvPr id="15" name="Shape 9"/>
          <p:cNvSpPr/>
          <p:nvPr/>
        </p:nvSpPr>
        <p:spPr>
          <a:xfrm>
            <a:off x="6309360" y="1371600"/>
            <a:ext cx="2560320" cy="237744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7" name="Text 10"/>
          <p:cNvSpPr/>
          <p:nvPr/>
        </p:nvSpPr>
        <p:spPr>
          <a:xfrm>
            <a:off x="6446520" y="2148840"/>
            <a:ext cx="2286000" cy="365760"/>
          </a:xfrm>
          <a:prstGeom prst="rect">
            <a:avLst/>
          </a:prstGeom>
          <a:noFill/>
          <a:ln/>
        </p:spPr>
        <p:txBody>
          <a:bodyPr wrap="square" lIns="0" tIns="0" rIns="0" bIns="0" rtlCol="0" anchor="ctr"/>
          <a:lstStyle/>
          <a:p>
            <a:pPr marL="0" indent="0" algn="ctr">
              <a:buNone/>
            </a:pPr>
            <a:r>
              <a:rPr lang="en-US" sz="1600" b="1" dirty="0">
                <a:solidFill>
                  <a:srgbClr val="EF4444"/>
                </a:solidFill>
                <a:latin typeface="Trebuchet MS" pitchFamily="34" charset="0"/>
                <a:ea typeface="Trebuchet MS" pitchFamily="34" charset="-122"/>
                <a:cs typeface="Trebuchet MS" pitchFamily="34" charset="-120"/>
              </a:rPr>
              <a:t>Exit Node</a:t>
            </a:r>
            <a:endParaRPr lang="en-US" sz="1600" dirty="0"/>
          </a:p>
        </p:txBody>
      </p:sp>
      <p:sp>
        <p:nvSpPr>
          <p:cNvPr id="18" name="Text 11"/>
          <p:cNvSpPr/>
          <p:nvPr/>
        </p:nvSpPr>
        <p:spPr>
          <a:xfrm>
            <a:off x="6446520" y="2514600"/>
            <a:ext cx="2286000" cy="1005840"/>
          </a:xfrm>
          <a:prstGeom prst="rect">
            <a:avLst/>
          </a:prstGeom>
          <a:noFill/>
          <a:ln/>
        </p:spPr>
        <p:txBody>
          <a:bodyPr wrap="square" lIns="0" tIns="0" rIns="0" bIns="0" rtlCol="0" anchor="ctr"/>
          <a:lstStyle/>
          <a:p>
            <a:pPr marL="0" indent="0" algn="ctr">
              <a:buNone/>
            </a:pPr>
            <a:r>
              <a:rPr lang="en-US" sz="1200" dirty="0">
                <a:solidFill>
                  <a:srgbClr val="A1A1AA"/>
                </a:solidFill>
                <a:latin typeface="Calibri" pitchFamily="34" charset="0"/>
                <a:ea typeface="Calibri" pitchFamily="34" charset="-122"/>
                <a:cs typeface="Calibri" pitchFamily="34" charset="-120"/>
              </a:rPr>
              <a:t>Removes final Tor</a:t>
            </a:r>
            <a:endParaRPr lang="en-US" sz="1200" dirty="0"/>
          </a:p>
          <a:p>
            <a:pPr marL="0" indent="0" algn="ctr">
              <a:buNone/>
            </a:pPr>
            <a:r>
              <a:rPr lang="en-US" sz="1200" dirty="0">
                <a:solidFill>
                  <a:srgbClr val="A1A1AA"/>
                </a:solidFill>
                <a:latin typeface="Calibri" pitchFamily="34" charset="0"/>
                <a:ea typeface="Calibri" pitchFamily="34" charset="-122"/>
                <a:cs typeface="Calibri" pitchFamily="34" charset="-120"/>
              </a:rPr>
              <a:t>encryption, delivers</a:t>
            </a:r>
            <a:endParaRPr lang="en-US" sz="1200" dirty="0"/>
          </a:p>
          <a:p>
            <a:pPr marL="0" indent="0" algn="ctr">
              <a:buNone/>
            </a:pPr>
            <a:r>
              <a:rPr lang="en-US" sz="1200" dirty="0">
                <a:solidFill>
                  <a:srgbClr val="A1A1AA"/>
                </a:solidFill>
                <a:latin typeface="Calibri" pitchFamily="34" charset="0"/>
                <a:ea typeface="Calibri" pitchFamily="34" charset="-122"/>
                <a:cs typeface="Calibri" pitchFamily="34" charset="-120"/>
              </a:rPr>
              <a:t>plaintext to destination</a:t>
            </a:r>
            <a:endParaRPr lang="en-US" sz="1200" dirty="0"/>
          </a:p>
        </p:txBody>
      </p:sp>
      <p:sp>
        <p:nvSpPr>
          <p:cNvPr id="19" name="Shape 12"/>
          <p:cNvSpPr/>
          <p:nvPr/>
        </p:nvSpPr>
        <p:spPr>
          <a:xfrm>
            <a:off x="548640" y="3977640"/>
            <a:ext cx="8046720" cy="640080"/>
          </a:xfrm>
          <a:prstGeom prst="rect">
            <a:avLst/>
          </a:prstGeom>
          <a:solidFill>
            <a:srgbClr val="3A1515"/>
          </a:solidFill>
          <a:ln/>
          <a:effectLst>
            <a:outerShdw blurRad="50800" dist="25400" dir="8100000" algn="bl" rotWithShape="0">
              <a:srgbClr val="000000">
                <a:alpha val="20000"/>
              </a:srgbClr>
            </a:outerShdw>
          </a:effectLst>
        </p:spPr>
        <p:txBody>
          <a:bodyPr/>
          <a:lstStyle/>
          <a:p>
            <a:endParaRPr lang="en-US"/>
          </a:p>
        </p:txBody>
      </p:sp>
      <p:sp>
        <p:nvSpPr>
          <p:cNvPr id="21" name="Text 13"/>
          <p:cNvSpPr/>
          <p:nvPr/>
        </p:nvSpPr>
        <p:spPr>
          <a:xfrm>
            <a:off x="1234440" y="3977640"/>
            <a:ext cx="7223760" cy="640080"/>
          </a:xfrm>
          <a:prstGeom prst="rect">
            <a:avLst/>
          </a:prstGeom>
          <a:noFill/>
          <a:ln/>
        </p:spPr>
        <p:txBody>
          <a:bodyPr wrap="square" lIns="0" tIns="0" rIns="0" bIns="0" rtlCol="0" anchor="ctr"/>
          <a:lstStyle/>
          <a:p>
            <a:pPr marL="0" indent="0">
              <a:buNone/>
            </a:pPr>
            <a:r>
              <a:rPr lang="en-US" sz="1300" dirty="0">
                <a:solidFill>
                  <a:srgbClr val="FCA5A5"/>
                </a:solidFill>
                <a:latin typeface="Calibri" pitchFamily="34" charset="0"/>
                <a:ea typeface="Calibri" pitchFamily="34" charset="-122"/>
                <a:cs typeface="Calibri" pitchFamily="34" charset="-120"/>
              </a:rPr>
              <a:t>Key Insight: Tor protects anonymity, NOT data confidentiality. Plaintext HTTP is fully visible at the exit node.</a:t>
            </a:r>
            <a:endParaRPr lang="en-US" sz="1300" dirty="0"/>
          </a:p>
        </p:txBody>
      </p:sp>
      <p:pic>
        <p:nvPicPr>
          <p:cNvPr id="22" name="Image 0" descr="preencoded.png">
            <a:extLst>
              <a:ext uri="{FF2B5EF4-FFF2-40B4-BE49-F238E27FC236}">
                <a16:creationId xmlns:a16="http://schemas.microsoft.com/office/drawing/2014/main" id="{B3C7AF9F-C8A7-AEF4-79D5-52D8F391375F}"/>
              </a:ext>
            </a:extLst>
          </p:cNvPr>
          <p:cNvPicPr>
            <a:picLocks noChangeAspect="1"/>
          </p:cNvPicPr>
          <p:nvPr/>
        </p:nvPicPr>
        <p:blipFill>
          <a:blip r:embed="rId4"/>
          <a:stretch>
            <a:fillRect/>
          </a:stretch>
        </p:blipFill>
        <p:spPr>
          <a:xfrm>
            <a:off x="1554480" y="1645920"/>
            <a:ext cx="502920" cy="502920"/>
          </a:xfrm>
          <a:prstGeom prst="rect">
            <a:avLst/>
          </a:prstGeom>
        </p:spPr>
      </p:pic>
      <p:pic>
        <p:nvPicPr>
          <p:cNvPr id="23" name="Image 2" descr="preencoded.png">
            <a:extLst>
              <a:ext uri="{FF2B5EF4-FFF2-40B4-BE49-F238E27FC236}">
                <a16:creationId xmlns:a16="http://schemas.microsoft.com/office/drawing/2014/main" id="{2ED217ED-52CE-9017-63B1-38FF01C3A214}"/>
              </a:ext>
            </a:extLst>
          </p:cNvPr>
          <p:cNvPicPr>
            <a:picLocks noChangeAspect="1"/>
          </p:cNvPicPr>
          <p:nvPr/>
        </p:nvPicPr>
        <p:blipFill>
          <a:blip r:embed="rId5"/>
          <a:stretch>
            <a:fillRect/>
          </a:stretch>
        </p:blipFill>
        <p:spPr>
          <a:xfrm>
            <a:off x="4457700" y="1666299"/>
            <a:ext cx="502920" cy="502920"/>
          </a:xfrm>
          <a:prstGeom prst="rect">
            <a:avLst/>
          </a:prstGeom>
        </p:spPr>
      </p:pic>
      <p:pic>
        <p:nvPicPr>
          <p:cNvPr id="24" name="Image 4" descr="preencoded.png">
            <a:extLst>
              <a:ext uri="{FF2B5EF4-FFF2-40B4-BE49-F238E27FC236}">
                <a16:creationId xmlns:a16="http://schemas.microsoft.com/office/drawing/2014/main" id="{7FBE5655-1732-F16C-2B46-E46A751FC48B}"/>
              </a:ext>
            </a:extLst>
          </p:cNvPr>
          <p:cNvPicPr>
            <a:picLocks noChangeAspect="1"/>
          </p:cNvPicPr>
          <p:nvPr/>
        </p:nvPicPr>
        <p:blipFill>
          <a:blip r:embed="rId6"/>
          <a:stretch>
            <a:fillRect/>
          </a:stretch>
        </p:blipFill>
        <p:spPr>
          <a:xfrm>
            <a:off x="7338060" y="1626604"/>
            <a:ext cx="502920" cy="502920"/>
          </a:xfrm>
          <a:prstGeom prst="rect">
            <a:avLst/>
          </a:prstGeom>
        </p:spPr>
      </p:pic>
      <p:pic>
        <p:nvPicPr>
          <p:cNvPr id="25" name="Image 5" descr="preencoded.png">
            <a:extLst>
              <a:ext uri="{FF2B5EF4-FFF2-40B4-BE49-F238E27FC236}">
                <a16:creationId xmlns:a16="http://schemas.microsoft.com/office/drawing/2014/main" id="{F4794F79-69F2-0A48-04F3-BE258FD96EA6}"/>
              </a:ext>
            </a:extLst>
          </p:cNvPr>
          <p:cNvPicPr>
            <a:picLocks noChangeAspect="1"/>
          </p:cNvPicPr>
          <p:nvPr/>
        </p:nvPicPr>
        <p:blipFill>
          <a:blip r:embed="rId7"/>
          <a:stretch>
            <a:fillRect/>
          </a:stretch>
        </p:blipFill>
        <p:spPr>
          <a:xfrm>
            <a:off x="660082" y="4069080"/>
            <a:ext cx="365760" cy="365760"/>
          </a:xfrm>
          <a:prstGeom prst="rect">
            <a:avLst/>
          </a:prstGeom>
        </p:spPr>
      </p:pic>
    </p:spTree>
    <p:extLst>
      <p:ext uri="{BB962C8B-B14F-4D97-AF65-F5344CB8AC3E}">
        <p14:creationId xmlns:p14="http://schemas.microsoft.com/office/powerpoint/2010/main" val="551245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Problem Statement</a:t>
            </a:r>
            <a:endParaRPr lang="en-US" sz="3000" dirty="0"/>
          </a:p>
        </p:txBody>
      </p:sp>
      <p:sp>
        <p:nvSpPr>
          <p:cNvPr id="5" name="Shape 3"/>
          <p:cNvSpPr/>
          <p:nvPr/>
        </p:nvSpPr>
        <p:spPr>
          <a:xfrm>
            <a:off x="548640" y="1325880"/>
            <a:ext cx="8046720" cy="12801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6" name="Text 4"/>
          <p:cNvSpPr/>
          <p:nvPr/>
        </p:nvSpPr>
        <p:spPr>
          <a:xfrm>
            <a:off x="731520" y="1417320"/>
            <a:ext cx="7315200" cy="320040"/>
          </a:xfrm>
          <a:prstGeom prst="rect">
            <a:avLst/>
          </a:prstGeom>
          <a:noFill/>
          <a:ln/>
        </p:spPr>
        <p:txBody>
          <a:bodyPr wrap="square" lIns="0" tIns="0" rIns="0" bIns="0" rtlCol="0" anchor="ctr"/>
          <a:lstStyle/>
          <a:p>
            <a:pPr marL="0" indent="0">
              <a:buNone/>
            </a:pPr>
            <a:r>
              <a:rPr lang="en-US" sz="1800" b="1" dirty="0">
                <a:solidFill>
                  <a:srgbClr val="2DD4BF"/>
                </a:solidFill>
                <a:latin typeface="Trebuchet MS" pitchFamily="34" charset="0"/>
                <a:ea typeface="Trebuchet MS" pitchFamily="34" charset="-122"/>
                <a:cs typeface="Trebuchet MS" pitchFamily="34" charset="-120"/>
              </a:rPr>
              <a:t>The Misconception</a:t>
            </a:r>
            <a:endParaRPr lang="en-US" sz="1800" dirty="0"/>
          </a:p>
        </p:txBody>
      </p:sp>
      <p:sp>
        <p:nvSpPr>
          <p:cNvPr id="7" name="Text 5"/>
          <p:cNvSpPr/>
          <p:nvPr/>
        </p:nvSpPr>
        <p:spPr>
          <a:xfrm>
            <a:off x="731520" y="1783080"/>
            <a:ext cx="7680960" cy="731520"/>
          </a:xfrm>
          <a:prstGeom prst="rect">
            <a:avLst/>
          </a:prstGeom>
          <a:noFill/>
          <a:ln/>
        </p:spPr>
        <p:txBody>
          <a:bodyPr wrap="square" lIns="0" tIns="0" rIns="0" bIns="0" rtlCol="0" anchor="ctr"/>
          <a:lstStyle/>
          <a:p>
            <a:r>
              <a:rPr lang="en-US" sz="1300" dirty="0">
                <a:solidFill>
                  <a:srgbClr val="A1A1AA"/>
                </a:solidFill>
                <a:latin typeface="Calibri" pitchFamily="34" charset="0"/>
                <a:ea typeface="Calibri" pitchFamily="34" charset="-122"/>
                <a:cs typeface="Calibri" pitchFamily="34" charset="-120"/>
              </a:rPr>
              <a:t>Many users believe that Tor's anonymity protection guarantees data confidentiality. However, when a user accesses an unencrypted HTTP website, credentials, session tokens, cookies, and query results can be exposed to the exit node operator. </a:t>
            </a:r>
            <a:endParaRPr lang="en-US" sz="1300" dirty="0"/>
          </a:p>
        </p:txBody>
      </p:sp>
      <p:sp>
        <p:nvSpPr>
          <p:cNvPr id="8" name="Shape 6"/>
          <p:cNvSpPr/>
          <p:nvPr/>
        </p:nvSpPr>
        <p:spPr>
          <a:xfrm>
            <a:off x="548640" y="2834640"/>
            <a:ext cx="8046720" cy="12801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9" name="Text 7"/>
          <p:cNvSpPr/>
          <p:nvPr/>
        </p:nvSpPr>
        <p:spPr>
          <a:xfrm>
            <a:off x="731520" y="2926080"/>
            <a:ext cx="7315200" cy="320040"/>
          </a:xfrm>
          <a:prstGeom prst="rect">
            <a:avLst/>
          </a:prstGeom>
          <a:noFill/>
          <a:ln/>
        </p:spPr>
        <p:txBody>
          <a:bodyPr wrap="square" lIns="0" tIns="0" rIns="0" bIns="0" rtlCol="0" anchor="ctr"/>
          <a:lstStyle/>
          <a:p>
            <a:pPr marL="0" indent="0">
              <a:buNone/>
            </a:pPr>
            <a:r>
              <a:rPr lang="en-US" sz="1800" b="1" dirty="0">
                <a:solidFill>
                  <a:srgbClr val="2DD4BF"/>
                </a:solidFill>
                <a:latin typeface="Trebuchet MS" pitchFamily="34" charset="0"/>
                <a:ea typeface="Trebuchet MS" pitchFamily="34" charset="-122"/>
                <a:cs typeface="Trebuchet MS" pitchFamily="34" charset="-120"/>
              </a:rPr>
              <a:t>Our Goal</a:t>
            </a:r>
            <a:endParaRPr lang="en-US" sz="1800" dirty="0"/>
          </a:p>
        </p:txBody>
      </p:sp>
      <p:sp>
        <p:nvSpPr>
          <p:cNvPr id="10" name="Text 8"/>
          <p:cNvSpPr/>
          <p:nvPr/>
        </p:nvSpPr>
        <p:spPr>
          <a:xfrm>
            <a:off x="731520" y="3291840"/>
            <a:ext cx="7680960" cy="731520"/>
          </a:xfrm>
          <a:prstGeom prst="rect">
            <a:avLst/>
          </a:prstGeom>
          <a:noFill/>
          <a:ln/>
        </p:spPr>
        <p:txBody>
          <a:bodyPr wrap="square" lIns="0" tIns="0" rIns="0" bIns="0" rtlCol="0" anchor="ctr"/>
          <a:lstStyle/>
          <a:p>
            <a:r>
              <a:rPr lang="en-US" sz="1300" dirty="0">
                <a:solidFill>
                  <a:srgbClr val="A1A1AA"/>
                </a:solidFill>
                <a:latin typeface="Calibri" pitchFamily="34" charset="0"/>
                <a:ea typeface="Calibri" pitchFamily="34" charset="-122"/>
                <a:cs typeface="Calibri" pitchFamily="34" charset="-120"/>
              </a:rPr>
              <a:t>To demonstrate this vulnerability in a controlled Docker environment, we show how a malicious exit node can intercept plaintext HTTP traffic. By comparing this with HTTPS, we prove that end-to-end encryption is essential for anonymity networks</a:t>
            </a:r>
            <a:r>
              <a:rPr lang="en-US" altLang="ko-KR" sz="1300" dirty="0">
                <a:solidFill>
                  <a:srgbClr val="A1A1AA"/>
                </a:solidFill>
                <a:latin typeface="Calibri" pitchFamily="34" charset="0"/>
                <a:ea typeface="Calibri" pitchFamily="34" charset="-122"/>
                <a:cs typeface="Calibri" pitchFamily="34" charset="-120"/>
              </a:rPr>
              <a:t>.</a:t>
            </a:r>
            <a:endParaRPr lang="en-US" sz="1300" dirty="0"/>
          </a:p>
        </p:txBody>
      </p:sp>
    </p:spTree>
    <p:extLst>
      <p:ext uri="{BB962C8B-B14F-4D97-AF65-F5344CB8AC3E}">
        <p14:creationId xmlns:p14="http://schemas.microsoft.com/office/powerpoint/2010/main" val="1288129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Methodology — Lab Environment</a:t>
            </a:r>
            <a:endParaRPr lang="en-US" sz="3000" dirty="0"/>
          </a:p>
        </p:txBody>
      </p:sp>
      <p:sp>
        <p:nvSpPr>
          <p:cNvPr id="5" name="Shape 3"/>
          <p:cNvSpPr/>
          <p:nvPr/>
        </p:nvSpPr>
        <p:spPr>
          <a:xfrm>
            <a:off x="548640" y="1371600"/>
            <a:ext cx="8046720" cy="100584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7" name="Text 4"/>
          <p:cNvSpPr/>
          <p:nvPr/>
        </p:nvSpPr>
        <p:spPr>
          <a:xfrm>
            <a:off x="1508760" y="1463040"/>
            <a:ext cx="2743200" cy="320040"/>
          </a:xfrm>
          <a:prstGeom prst="rect">
            <a:avLst/>
          </a:prstGeom>
          <a:noFill/>
          <a:ln/>
        </p:spPr>
        <p:txBody>
          <a:bodyPr wrap="square" lIns="0" tIns="0" rIns="0" bIns="0" rtlCol="0" anchor="ctr"/>
          <a:lstStyle/>
          <a:p>
            <a:pPr marL="0" indent="0">
              <a:buNone/>
            </a:pPr>
            <a:r>
              <a:rPr lang="en-US" sz="1600" b="1" dirty="0">
                <a:solidFill>
                  <a:srgbClr val="2DD4BF"/>
                </a:solidFill>
                <a:latin typeface="Trebuchet MS" pitchFamily="34" charset="0"/>
                <a:ea typeface="Trebuchet MS" pitchFamily="34" charset="-122"/>
                <a:cs typeface="Trebuchet MS" pitchFamily="34" charset="-120"/>
              </a:rPr>
              <a:t>Operating System</a:t>
            </a:r>
            <a:endParaRPr lang="en-US" sz="1600" dirty="0"/>
          </a:p>
        </p:txBody>
      </p:sp>
      <p:sp>
        <p:nvSpPr>
          <p:cNvPr id="8" name="Text 5"/>
          <p:cNvSpPr/>
          <p:nvPr/>
        </p:nvSpPr>
        <p:spPr>
          <a:xfrm>
            <a:off x="1508760" y="1783080"/>
            <a:ext cx="6858000" cy="502920"/>
          </a:xfrm>
          <a:prstGeom prst="rect">
            <a:avLst/>
          </a:prstGeom>
          <a:noFill/>
          <a:ln/>
        </p:spPr>
        <p:txBody>
          <a:bodyPr wrap="square" lIns="0" tIns="0" rIns="0" bIns="0" rtlCol="0" anchor="ctr"/>
          <a:lstStyle/>
          <a:p>
            <a:pPr marL="0" indent="0">
              <a:buNone/>
            </a:pPr>
            <a:r>
              <a:rPr lang="en-US" sz="1200" dirty="0">
                <a:solidFill>
                  <a:srgbClr val="A1A1AA"/>
                </a:solidFill>
                <a:latin typeface="Calibri" pitchFamily="34" charset="0"/>
                <a:ea typeface="Calibri" pitchFamily="34" charset="-122"/>
                <a:cs typeface="Calibri" pitchFamily="34" charset="-120"/>
              </a:rPr>
              <a:t>Debian:sid (latest packages)</a:t>
            </a:r>
            <a:endParaRPr lang="en-US" sz="1200" dirty="0"/>
          </a:p>
          <a:p>
            <a:pPr marL="0" indent="0">
              <a:buNone/>
            </a:pPr>
            <a:r>
              <a:rPr lang="en-US" sz="1200" dirty="0">
                <a:solidFill>
                  <a:srgbClr val="A1A1AA"/>
                </a:solidFill>
                <a:latin typeface="Calibri" pitchFamily="34" charset="0"/>
                <a:ea typeface="Calibri" pitchFamily="34" charset="-122"/>
                <a:cs typeface="Calibri" pitchFamily="34" charset="-120"/>
              </a:rPr>
              <a:t>Replaced Ubuntu:latest to support</a:t>
            </a:r>
            <a:endParaRPr lang="en-US" sz="1200" dirty="0"/>
          </a:p>
          <a:p>
            <a:pPr marL="0" indent="0">
              <a:buNone/>
            </a:pPr>
            <a:r>
              <a:rPr lang="en-US" sz="1200" dirty="0">
                <a:solidFill>
                  <a:srgbClr val="A1A1AA"/>
                </a:solidFill>
                <a:latin typeface="Calibri" pitchFamily="34" charset="0"/>
                <a:ea typeface="Calibri" pitchFamily="34" charset="-122"/>
                <a:cs typeface="Calibri" pitchFamily="34" charset="-120"/>
              </a:rPr>
              <a:t>Tor 0.4.8.x protocol requirements</a:t>
            </a:r>
            <a:endParaRPr lang="en-US" sz="1200" dirty="0"/>
          </a:p>
        </p:txBody>
      </p:sp>
      <p:sp>
        <p:nvSpPr>
          <p:cNvPr id="9" name="Shape 6"/>
          <p:cNvSpPr/>
          <p:nvPr/>
        </p:nvSpPr>
        <p:spPr>
          <a:xfrm>
            <a:off x="548640" y="2514600"/>
            <a:ext cx="8046720" cy="100584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1" name="Text 7"/>
          <p:cNvSpPr/>
          <p:nvPr/>
        </p:nvSpPr>
        <p:spPr>
          <a:xfrm>
            <a:off x="1508760" y="2606040"/>
            <a:ext cx="2743200" cy="320040"/>
          </a:xfrm>
          <a:prstGeom prst="rect">
            <a:avLst/>
          </a:prstGeom>
          <a:noFill/>
          <a:ln/>
        </p:spPr>
        <p:txBody>
          <a:bodyPr wrap="square" lIns="0" tIns="0" rIns="0" bIns="0" rtlCol="0" anchor="ctr"/>
          <a:lstStyle/>
          <a:p>
            <a:pPr marL="0" indent="0">
              <a:buNone/>
            </a:pPr>
            <a:r>
              <a:rPr lang="en-US" sz="1600" b="1" dirty="0">
                <a:solidFill>
                  <a:srgbClr val="2DD4BF"/>
                </a:solidFill>
                <a:latin typeface="Trebuchet MS" pitchFamily="34" charset="0"/>
                <a:ea typeface="Trebuchet MS" pitchFamily="34" charset="-122"/>
                <a:cs typeface="Trebuchet MS" pitchFamily="34" charset="-120"/>
              </a:rPr>
              <a:t>Virtualization</a:t>
            </a:r>
            <a:endParaRPr lang="en-US" sz="1600" dirty="0"/>
          </a:p>
        </p:txBody>
      </p:sp>
      <p:sp>
        <p:nvSpPr>
          <p:cNvPr id="12" name="Text 8"/>
          <p:cNvSpPr/>
          <p:nvPr/>
        </p:nvSpPr>
        <p:spPr>
          <a:xfrm>
            <a:off x="1508760" y="2926080"/>
            <a:ext cx="6858000" cy="502920"/>
          </a:xfrm>
          <a:prstGeom prst="rect">
            <a:avLst/>
          </a:prstGeom>
          <a:noFill/>
          <a:ln/>
        </p:spPr>
        <p:txBody>
          <a:bodyPr wrap="square" lIns="0" tIns="0" rIns="0" bIns="0" rtlCol="0" anchor="ctr"/>
          <a:lstStyle/>
          <a:p>
            <a:pPr marL="0" indent="0">
              <a:buNone/>
            </a:pPr>
            <a:r>
              <a:rPr lang="en-US" sz="1200" dirty="0">
                <a:solidFill>
                  <a:srgbClr val="A1A1AA"/>
                </a:solidFill>
                <a:latin typeface="Calibri" pitchFamily="34" charset="0"/>
                <a:ea typeface="Calibri" pitchFamily="34" charset="-122"/>
                <a:cs typeface="Calibri" pitchFamily="34" charset="-120"/>
              </a:rPr>
              <a:t>Docker containers for controlled,</a:t>
            </a:r>
            <a:endParaRPr lang="en-US" sz="1200" dirty="0"/>
          </a:p>
          <a:p>
            <a:pPr marL="0" indent="0">
              <a:buNone/>
            </a:pPr>
            <a:r>
              <a:rPr lang="en-US" sz="1200" dirty="0">
                <a:solidFill>
                  <a:srgbClr val="A1A1AA"/>
                </a:solidFill>
                <a:latin typeface="Calibri" pitchFamily="34" charset="0"/>
                <a:ea typeface="Calibri" pitchFamily="34" charset="-122"/>
                <a:cs typeface="Calibri" pitchFamily="34" charset="-120"/>
              </a:rPr>
              <a:t>isolated network environment</a:t>
            </a:r>
            <a:endParaRPr lang="en-US" sz="1200" dirty="0"/>
          </a:p>
        </p:txBody>
      </p:sp>
      <p:sp>
        <p:nvSpPr>
          <p:cNvPr id="13" name="Shape 9"/>
          <p:cNvSpPr/>
          <p:nvPr/>
        </p:nvSpPr>
        <p:spPr>
          <a:xfrm>
            <a:off x="548640" y="3657600"/>
            <a:ext cx="8046720" cy="100584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5" name="Text 10"/>
          <p:cNvSpPr/>
          <p:nvPr/>
        </p:nvSpPr>
        <p:spPr>
          <a:xfrm>
            <a:off x="1508760" y="3749040"/>
            <a:ext cx="2743200" cy="320040"/>
          </a:xfrm>
          <a:prstGeom prst="rect">
            <a:avLst/>
          </a:prstGeom>
          <a:noFill/>
          <a:ln/>
        </p:spPr>
        <p:txBody>
          <a:bodyPr wrap="square" lIns="0" tIns="0" rIns="0" bIns="0" rtlCol="0" anchor="ctr"/>
          <a:lstStyle/>
          <a:p>
            <a:pPr marL="0" indent="0">
              <a:buNone/>
            </a:pPr>
            <a:r>
              <a:rPr lang="en-US" sz="1600" b="1" dirty="0">
                <a:solidFill>
                  <a:srgbClr val="2DD4BF"/>
                </a:solidFill>
                <a:latin typeface="Trebuchet MS" pitchFamily="34" charset="0"/>
                <a:ea typeface="Trebuchet MS" pitchFamily="34" charset="-122"/>
                <a:cs typeface="Trebuchet MS" pitchFamily="34" charset="-120"/>
              </a:rPr>
              <a:t>Software Stack</a:t>
            </a:r>
            <a:endParaRPr lang="en-US" sz="1600" dirty="0"/>
          </a:p>
        </p:txBody>
      </p:sp>
      <p:sp>
        <p:nvSpPr>
          <p:cNvPr id="16" name="Text 11"/>
          <p:cNvSpPr/>
          <p:nvPr/>
        </p:nvSpPr>
        <p:spPr>
          <a:xfrm>
            <a:off x="1508760" y="4069080"/>
            <a:ext cx="6858000" cy="502920"/>
          </a:xfrm>
          <a:prstGeom prst="rect">
            <a:avLst/>
          </a:prstGeom>
          <a:noFill/>
          <a:ln/>
        </p:spPr>
        <p:txBody>
          <a:bodyPr wrap="square" lIns="0" tIns="0" rIns="0" bIns="0" rtlCol="0" anchor="ctr"/>
          <a:lstStyle/>
          <a:p>
            <a:pPr marL="0" indent="0">
              <a:buNone/>
            </a:pPr>
            <a:r>
              <a:rPr lang="en-US" sz="1200" dirty="0">
                <a:solidFill>
                  <a:srgbClr val="A1A1AA"/>
                </a:solidFill>
                <a:latin typeface="Calibri" pitchFamily="34" charset="0"/>
                <a:ea typeface="Calibri" pitchFamily="34" charset="-122"/>
                <a:cs typeface="Calibri" pitchFamily="34" charset="-120"/>
              </a:rPr>
              <a:t>Tor 0.4.8.x  |  Python 3</a:t>
            </a:r>
            <a:endParaRPr lang="en-US" sz="1200" dirty="0"/>
          </a:p>
          <a:p>
            <a:pPr marL="0" indent="0">
              <a:buNone/>
            </a:pPr>
            <a:r>
              <a:rPr lang="en-US" sz="1200" dirty="0">
                <a:solidFill>
                  <a:srgbClr val="A1A1AA"/>
                </a:solidFill>
                <a:latin typeface="Calibri" pitchFamily="34" charset="0"/>
                <a:ea typeface="Calibri" pitchFamily="34" charset="-122"/>
                <a:cs typeface="Calibri" pitchFamily="34" charset="-120"/>
              </a:rPr>
              <a:t>Scapy (packet capture)</a:t>
            </a:r>
            <a:endParaRPr lang="en-US" sz="1200" dirty="0"/>
          </a:p>
          <a:p>
            <a:pPr marL="0" indent="0">
              <a:buNone/>
            </a:pPr>
            <a:r>
              <a:rPr lang="en-US" sz="1200" dirty="0">
                <a:solidFill>
                  <a:srgbClr val="A1A1AA"/>
                </a:solidFill>
                <a:latin typeface="Calibri" pitchFamily="34" charset="0"/>
                <a:ea typeface="Calibri" pitchFamily="34" charset="-122"/>
                <a:cs typeface="Calibri" pitchFamily="34" charset="-120"/>
              </a:rPr>
              <a:t>PySocks (SOCKS5 proxy)</a:t>
            </a:r>
            <a:endParaRPr lang="en-US" sz="1200" dirty="0"/>
          </a:p>
        </p:txBody>
      </p:sp>
      <p:pic>
        <p:nvPicPr>
          <p:cNvPr id="17" name="Image 0" descr="preencoded.png">
            <a:extLst>
              <a:ext uri="{FF2B5EF4-FFF2-40B4-BE49-F238E27FC236}">
                <a16:creationId xmlns:a16="http://schemas.microsoft.com/office/drawing/2014/main" id="{4F53BEBC-2503-F6D2-A223-5F552BCA51EA}"/>
              </a:ext>
            </a:extLst>
          </p:cNvPr>
          <p:cNvPicPr>
            <a:picLocks noChangeAspect="1"/>
          </p:cNvPicPr>
          <p:nvPr/>
        </p:nvPicPr>
        <p:blipFill>
          <a:blip r:embed="rId3"/>
          <a:stretch>
            <a:fillRect/>
          </a:stretch>
        </p:blipFill>
        <p:spPr>
          <a:xfrm>
            <a:off x="777240" y="1623060"/>
            <a:ext cx="502920" cy="502920"/>
          </a:xfrm>
          <a:prstGeom prst="rect">
            <a:avLst/>
          </a:prstGeom>
        </p:spPr>
      </p:pic>
      <p:pic>
        <p:nvPicPr>
          <p:cNvPr id="18" name="Image 1" descr="preencoded.png">
            <a:extLst>
              <a:ext uri="{FF2B5EF4-FFF2-40B4-BE49-F238E27FC236}">
                <a16:creationId xmlns:a16="http://schemas.microsoft.com/office/drawing/2014/main" id="{9DA5D2B2-0723-E057-4207-E40C7BDFE585}"/>
              </a:ext>
            </a:extLst>
          </p:cNvPr>
          <p:cNvPicPr>
            <a:picLocks noChangeAspect="1"/>
          </p:cNvPicPr>
          <p:nvPr/>
        </p:nvPicPr>
        <p:blipFill>
          <a:blip r:embed="rId4"/>
          <a:stretch>
            <a:fillRect/>
          </a:stretch>
        </p:blipFill>
        <p:spPr>
          <a:xfrm>
            <a:off x="767493" y="2896309"/>
            <a:ext cx="502920" cy="502920"/>
          </a:xfrm>
          <a:prstGeom prst="rect">
            <a:avLst/>
          </a:prstGeom>
        </p:spPr>
      </p:pic>
      <p:pic>
        <p:nvPicPr>
          <p:cNvPr id="19" name="Image 2" descr="preencoded.png">
            <a:extLst>
              <a:ext uri="{FF2B5EF4-FFF2-40B4-BE49-F238E27FC236}">
                <a16:creationId xmlns:a16="http://schemas.microsoft.com/office/drawing/2014/main" id="{5746EA4B-7BC5-E12E-EE51-4B6AC9482F8E}"/>
              </a:ext>
            </a:extLst>
          </p:cNvPr>
          <p:cNvPicPr>
            <a:picLocks noChangeAspect="1"/>
          </p:cNvPicPr>
          <p:nvPr/>
        </p:nvPicPr>
        <p:blipFill>
          <a:blip r:embed="rId5"/>
          <a:stretch>
            <a:fillRect/>
          </a:stretch>
        </p:blipFill>
        <p:spPr>
          <a:xfrm>
            <a:off x="777240" y="3909060"/>
            <a:ext cx="502920" cy="502920"/>
          </a:xfrm>
          <a:prstGeom prst="rect">
            <a:avLst/>
          </a:prstGeom>
        </p:spPr>
      </p:pic>
    </p:spTree>
    <p:extLst>
      <p:ext uri="{BB962C8B-B14F-4D97-AF65-F5344CB8AC3E}">
        <p14:creationId xmlns:p14="http://schemas.microsoft.com/office/powerpoint/2010/main" val="3001445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Methodology — Malicious Exit Node Config</a:t>
            </a:r>
            <a:endParaRPr lang="en-US" sz="3000" dirty="0"/>
          </a:p>
        </p:txBody>
      </p:sp>
      <p:sp>
        <p:nvSpPr>
          <p:cNvPr id="5" name="Shape 3"/>
          <p:cNvSpPr/>
          <p:nvPr/>
        </p:nvSpPr>
        <p:spPr>
          <a:xfrm>
            <a:off x="548640" y="1371600"/>
            <a:ext cx="8046720" cy="100584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6" name="Shape 4"/>
          <p:cNvSpPr/>
          <p:nvPr/>
        </p:nvSpPr>
        <p:spPr>
          <a:xfrm>
            <a:off x="548640" y="1371600"/>
            <a:ext cx="64008" cy="1005840"/>
          </a:xfrm>
          <a:prstGeom prst="rect">
            <a:avLst/>
          </a:prstGeom>
          <a:solidFill>
            <a:srgbClr val="2DD4BF"/>
          </a:solidFill>
          <a:ln/>
        </p:spPr>
        <p:txBody>
          <a:bodyPr/>
          <a:lstStyle/>
          <a:p>
            <a:endParaRPr lang="en-US"/>
          </a:p>
        </p:txBody>
      </p:sp>
      <p:sp>
        <p:nvSpPr>
          <p:cNvPr id="7" name="Text 5"/>
          <p:cNvSpPr/>
          <p:nvPr/>
        </p:nvSpPr>
        <p:spPr>
          <a:xfrm>
            <a:off x="822960" y="1463040"/>
            <a:ext cx="7498080" cy="320040"/>
          </a:xfrm>
          <a:prstGeom prst="rect">
            <a:avLst/>
          </a:prstGeom>
          <a:noFill/>
          <a:ln/>
        </p:spPr>
        <p:txBody>
          <a:bodyPr wrap="square" lIns="0" tIns="0" rIns="0" bIns="0" rtlCol="0" anchor="ctr"/>
          <a:lstStyle/>
          <a:p>
            <a:pPr marL="0" indent="0">
              <a:buNone/>
            </a:pPr>
            <a:r>
              <a:rPr lang="en-US" sz="1600" b="1" dirty="0">
                <a:solidFill>
                  <a:srgbClr val="2DD4BF"/>
                </a:solidFill>
                <a:latin typeface="Trebuchet MS" pitchFamily="34" charset="0"/>
                <a:ea typeface="Trebuchet MS" pitchFamily="34" charset="-122"/>
                <a:cs typeface="Trebuchet MS" pitchFamily="34" charset="-120"/>
              </a:rPr>
              <a:t>Network Binding</a:t>
            </a:r>
            <a:endParaRPr lang="en-US" sz="1600" dirty="0"/>
          </a:p>
        </p:txBody>
      </p:sp>
      <p:sp>
        <p:nvSpPr>
          <p:cNvPr id="8" name="Text 6"/>
          <p:cNvSpPr/>
          <p:nvPr/>
        </p:nvSpPr>
        <p:spPr>
          <a:xfrm>
            <a:off x="822960" y="1783080"/>
            <a:ext cx="7498080" cy="502920"/>
          </a:xfrm>
          <a:prstGeom prst="rect">
            <a:avLst/>
          </a:prstGeom>
          <a:noFill/>
          <a:ln/>
        </p:spPr>
        <p:txBody>
          <a:bodyPr wrap="square" lIns="0" tIns="0" rIns="0" bIns="0" rtlCol="0" anchor="ctr"/>
          <a:lstStyle/>
          <a:p>
            <a:pPr marL="0" indent="0">
              <a:buNone/>
            </a:pPr>
            <a:r>
              <a:rPr lang="en-US" sz="1200" dirty="0">
                <a:solidFill>
                  <a:srgbClr val="A1A1AA"/>
                </a:solidFill>
                <a:latin typeface="Calibri" pitchFamily="34" charset="0"/>
                <a:ea typeface="Calibri" pitchFamily="34" charset="-122"/>
                <a:cs typeface="Calibri" pitchFamily="34" charset="-120"/>
              </a:rPr>
              <a:t>Changed SocksPort from 127.0.0.1 to 0.0.0.0:9050</a:t>
            </a:r>
            <a:endParaRPr lang="en-US" sz="1200" dirty="0"/>
          </a:p>
          <a:p>
            <a:pPr marL="0" indent="0">
              <a:buNone/>
            </a:pPr>
            <a:r>
              <a:rPr lang="en-US" sz="1200" dirty="0">
                <a:solidFill>
                  <a:srgbClr val="A1A1AA"/>
                </a:solidFill>
                <a:latin typeface="Calibri" pitchFamily="34" charset="0"/>
                <a:ea typeface="Calibri" pitchFamily="34" charset="-122"/>
                <a:cs typeface="Calibri" pitchFamily="34" charset="-120"/>
              </a:rPr>
              <a:t>to allow connections from the host machine to the Docker container.</a:t>
            </a:r>
            <a:endParaRPr lang="en-US" sz="1200" dirty="0"/>
          </a:p>
        </p:txBody>
      </p:sp>
      <p:sp>
        <p:nvSpPr>
          <p:cNvPr id="9" name="Shape 7"/>
          <p:cNvSpPr/>
          <p:nvPr/>
        </p:nvSpPr>
        <p:spPr>
          <a:xfrm>
            <a:off x="548640" y="2514600"/>
            <a:ext cx="8046720" cy="100584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0" name="Shape 8"/>
          <p:cNvSpPr/>
          <p:nvPr/>
        </p:nvSpPr>
        <p:spPr>
          <a:xfrm>
            <a:off x="548640" y="2514600"/>
            <a:ext cx="64008" cy="1005840"/>
          </a:xfrm>
          <a:prstGeom prst="rect">
            <a:avLst/>
          </a:prstGeom>
          <a:solidFill>
            <a:srgbClr val="2DD4BF"/>
          </a:solidFill>
          <a:ln/>
        </p:spPr>
        <p:txBody>
          <a:bodyPr/>
          <a:lstStyle/>
          <a:p>
            <a:endParaRPr lang="en-US"/>
          </a:p>
        </p:txBody>
      </p:sp>
      <p:sp>
        <p:nvSpPr>
          <p:cNvPr id="11" name="Text 9"/>
          <p:cNvSpPr/>
          <p:nvPr/>
        </p:nvSpPr>
        <p:spPr>
          <a:xfrm>
            <a:off x="822960" y="2606040"/>
            <a:ext cx="7498080" cy="320040"/>
          </a:xfrm>
          <a:prstGeom prst="rect">
            <a:avLst/>
          </a:prstGeom>
          <a:noFill/>
          <a:ln/>
        </p:spPr>
        <p:txBody>
          <a:bodyPr wrap="square" lIns="0" tIns="0" rIns="0" bIns="0" rtlCol="0" anchor="ctr"/>
          <a:lstStyle/>
          <a:p>
            <a:pPr marL="0" indent="0">
              <a:buNone/>
            </a:pPr>
            <a:r>
              <a:rPr lang="en-US" sz="1600" b="1" dirty="0">
                <a:solidFill>
                  <a:srgbClr val="2DD4BF"/>
                </a:solidFill>
                <a:latin typeface="Trebuchet MS" pitchFamily="34" charset="0"/>
                <a:ea typeface="Trebuchet MS" pitchFamily="34" charset="-122"/>
                <a:cs typeface="Trebuchet MS" pitchFamily="34" charset="-120"/>
              </a:rPr>
              <a:t>Exit Policy</a:t>
            </a:r>
            <a:endParaRPr lang="en-US" sz="1600" dirty="0"/>
          </a:p>
        </p:txBody>
      </p:sp>
      <p:sp>
        <p:nvSpPr>
          <p:cNvPr id="12" name="Text 10"/>
          <p:cNvSpPr/>
          <p:nvPr/>
        </p:nvSpPr>
        <p:spPr>
          <a:xfrm>
            <a:off x="822960" y="2926080"/>
            <a:ext cx="7498080" cy="502920"/>
          </a:xfrm>
          <a:prstGeom prst="rect">
            <a:avLst/>
          </a:prstGeom>
          <a:noFill/>
          <a:ln/>
        </p:spPr>
        <p:txBody>
          <a:bodyPr wrap="square" lIns="0" tIns="0" rIns="0" bIns="0" rtlCol="0" anchor="ctr"/>
          <a:lstStyle/>
          <a:p>
            <a:pPr marL="0" indent="0">
              <a:buNone/>
            </a:pPr>
            <a:r>
              <a:rPr lang="en-US" sz="1200" dirty="0">
                <a:solidFill>
                  <a:srgbClr val="A1A1AA"/>
                </a:solidFill>
                <a:latin typeface="Calibri" pitchFamily="34" charset="0"/>
                <a:ea typeface="Calibri" pitchFamily="34" charset="-122"/>
                <a:cs typeface="Calibri" pitchFamily="34" charset="-120"/>
              </a:rPr>
              <a:t>Allowed all traffic to all destinations so victims'</a:t>
            </a:r>
            <a:endParaRPr lang="en-US" sz="1200" dirty="0"/>
          </a:p>
          <a:p>
            <a:pPr marL="0" indent="0">
              <a:buNone/>
            </a:pPr>
            <a:r>
              <a:rPr lang="en-US" sz="1200" dirty="0">
                <a:solidFill>
                  <a:srgbClr val="A1A1AA"/>
                </a:solidFill>
                <a:latin typeface="Calibri" pitchFamily="34" charset="0"/>
                <a:ea typeface="Calibri" pitchFamily="34" charset="-122"/>
                <a:cs typeface="Calibri" pitchFamily="34" charset="-120"/>
              </a:rPr>
              <a:t>HTTP requests can reach the internet unblocked.</a:t>
            </a:r>
            <a:endParaRPr lang="en-US" sz="1200" dirty="0"/>
          </a:p>
        </p:txBody>
      </p:sp>
      <p:sp>
        <p:nvSpPr>
          <p:cNvPr id="13" name="Shape 11"/>
          <p:cNvSpPr/>
          <p:nvPr/>
        </p:nvSpPr>
        <p:spPr>
          <a:xfrm>
            <a:off x="548640" y="3657600"/>
            <a:ext cx="8046720" cy="100584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4" name="Shape 12"/>
          <p:cNvSpPr/>
          <p:nvPr/>
        </p:nvSpPr>
        <p:spPr>
          <a:xfrm>
            <a:off x="548640" y="3657600"/>
            <a:ext cx="64008" cy="1005840"/>
          </a:xfrm>
          <a:prstGeom prst="rect">
            <a:avLst/>
          </a:prstGeom>
          <a:solidFill>
            <a:srgbClr val="F59E0B"/>
          </a:solidFill>
          <a:ln/>
        </p:spPr>
        <p:txBody>
          <a:bodyPr/>
          <a:lstStyle/>
          <a:p>
            <a:endParaRPr lang="en-US"/>
          </a:p>
        </p:txBody>
      </p:sp>
      <p:sp>
        <p:nvSpPr>
          <p:cNvPr id="15" name="Text 13"/>
          <p:cNvSpPr/>
          <p:nvPr/>
        </p:nvSpPr>
        <p:spPr>
          <a:xfrm>
            <a:off x="822960" y="3749040"/>
            <a:ext cx="7498080" cy="320040"/>
          </a:xfrm>
          <a:prstGeom prst="rect">
            <a:avLst/>
          </a:prstGeom>
          <a:noFill/>
          <a:ln/>
        </p:spPr>
        <p:txBody>
          <a:bodyPr wrap="square" lIns="0" tIns="0" rIns="0" bIns="0" rtlCol="0" anchor="ctr"/>
          <a:lstStyle/>
          <a:p>
            <a:pPr marL="0" indent="0">
              <a:buNone/>
            </a:pPr>
            <a:r>
              <a:rPr lang="en-US" sz="1600" b="1" dirty="0">
                <a:solidFill>
                  <a:srgbClr val="F59E0B"/>
                </a:solidFill>
                <a:latin typeface="Trebuchet MS" pitchFamily="34" charset="0"/>
                <a:ea typeface="Trebuchet MS" pitchFamily="34" charset="-122"/>
                <a:cs typeface="Trebuchet MS" pitchFamily="34" charset="-120"/>
              </a:rPr>
              <a:t>Single-Hop Circuits</a:t>
            </a:r>
            <a:endParaRPr lang="en-US" sz="1600" dirty="0"/>
          </a:p>
        </p:txBody>
      </p:sp>
      <p:sp>
        <p:nvSpPr>
          <p:cNvPr id="16" name="Text 14"/>
          <p:cNvSpPr/>
          <p:nvPr/>
        </p:nvSpPr>
        <p:spPr>
          <a:xfrm>
            <a:off x="822960" y="4069080"/>
            <a:ext cx="7498080" cy="502920"/>
          </a:xfrm>
          <a:prstGeom prst="rect">
            <a:avLst/>
          </a:prstGeom>
          <a:noFill/>
          <a:ln/>
        </p:spPr>
        <p:txBody>
          <a:bodyPr wrap="square" lIns="0" tIns="0" rIns="0" bIns="0" rtlCol="0" anchor="ctr"/>
          <a:lstStyle/>
          <a:p>
            <a:pPr marL="0" indent="0">
              <a:buNone/>
            </a:pPr>
            <a:r>
              <a:rPr lang="en-US" sz="1200" dirty="0">
                <a:solidFill>
                  <a:srgbClr val="A1A1AA"/>
                </a:solidFill>
                <a:latin typeface="Calibri" pitchFamily="34" charset="0"/>
                <a:ea typeface="Calibri" pitchFamily="34" charset="-122"/>
                <a:cs typeface="Calibri" pitchFamily="34" charset="-120"/>
              </a:rPr>
              <a:t>Set AllowSingleHopCircuits 1 so traffic goes directly</a:t>
            </a:r>
            <a:endParaRPr lang="en-US" sz="1200" dirty="0"/>
          </a:p>
          <a:p>
            <a:pPr marL="0" indent="0">
              <a:buNone/>
            </a:pPr>
            <a:r>
              <a:rPr lang="en-US" sz="1200" dirty="0">
                <a:solidFill>
                  <a:srgbClr val="A1A1AA"/>
                </a:solidFill>
                <a:latin typeface="Calibri" pitchFamily="34" charset="0"/>
                <a:ea typeface="Calibri" pitchFamily="34" charset="-122"/>
                <a:cs typeface="Calibri" pitchFamily="34" charset="-120"/>
              </a:rPr>
              <a:t>through the exit node without full 3-hop routing.</a:t>
            </a:r>
            <a:endParaRPr lang="en-US" sz="1200" dirty="0"/>
          </a:p>
        </p:txBody>
      </p:sp>
    </p:spTree>
    <p:extLst>
      <p:ext uri="{BB962C8B-B14F-4D97-AF65-F5344CB8AC3E}">
        <p14:creationId xmlns:p14="http://schemas.microsoft.com/office/powerpoint/2010/main" val="2375790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Docker Setup — torrc Configuration</a:t>
            </a:r>
            <a:endParaRPr lang="en-US" sz="3000" dirty="0"/>
          </a:p>
        </p:txBody>
      </p:sp>
      <p:sp>
        <p:nvSpPr>
          <p:cNvPr id="5" name="Shape 3"/>
          <p:cNvSpPr/>
          <p:nvPr/>
        </p:nvSpPr>
        <p:spPr>
          <a:xfrm>
            <a:off x="548640" y="1280160"/>
            <a:ext cx="8046720" cy="3474720"/>
          </a:xfrm>
          <a:prstGeom prst="rect">
            <a:avLst/>
          </a:prstGeom>
          <a:solidFill>
            <a:srgbClr val="0D0D0D"/>
          </a:solidFill>
          <a:ln/>
          <a:effectLst>
            <a:outerShdw blurRad="50800" dist="25400" dir="8100000" algn="bl" rotWithShape="0">
              <a:srgbClr val="000000">
                <a:alpha val="20000"/>
              </a:srgbClr>
            </a:outerShdw>
          </a:effectLst>
        </p:spPr>
        <p:txBody>
          <a:bodyPr/>
          <a:lstStyle/>
          <a:p>
            <a:endParaRPr lang="en-US"/>
          </a:p>
        </p:txBody>
      </p:sp>
      <p:sp>
        <p:nvSpPr>
          <p:cNvPr id="6" name="Text 4"/>
          <p:cNvSpPr/>
          <p:nvPr/>
        </p:nvSpPr>
        <p:spPr>
          <a:xfrm>
            <a:off x="822960" y="1371600"/>
            <a:ext cx="7315200" cy="274320"/>
          </a:xfrm>
          <a:prstGeom prst="rect">
            <a:avLst/>
          </a:prstGeom>
          <a:noFill/>
          <a:ln/>
        </p:spPr>
        <p:txBody>
          <a:bodyPr wrap="square" lIns="0" tIns="0" rIns="0" bIns="0" rtlCol="0" anchor="ctr"/>
          <a:lstStyle/>
          <a:p>
            <a:pPr marL="0" indent="0">
              <a:buNone/>
            </a:pPr>
            <a:r>
              <a:rPr lang="en-US" sz="1100" dirty="0">
                <a:solidFill>
                  <a:srgbClr val="22C55E"/>
                </a:solidFill>
                <a:latin typeface="Consolas" pitchFamily="34" charset="0"/>
                <a:ea typeface="Consolas" pitchFamily="34" charset="-122"/>
                <a:cs typeface="Consolas" pitchFamily="34" charset="-120"/>
              </a:rPr>
              <a:t># torrc configuration (from GitHub repo)</a:t>
            </a:r>
            <a:endParaRPr lang="en-US" sz="1100" dirty="0"/>
          </a:p>
        </p:txBody>
      </p:sp>
      <p:sp>
        <p:nvSpPr>
          <p:cNvPr id="7" name="Text 5"/>
          <p:cNvSpPr/>
          <p:nvPr/>
        </p:nvSpPr>
        <p:spPr>
          <a:xfrm>
            <a:off x="822960" y="1737360"/>
            <a:ext cx="7315200" cy="274320"/>
          </a:xfrm>
          <a:prstGeom prst="rect">
            <a:avLst/>
          </a:prstGeom>
          <a:noFill/>
          <a:ln/>
        </p:spPr>
        <p:txBody>
          <a:bodyPr wrap="square" lIns="0" tIns="0" rIns="0" bIns="0" rtlCol="0" anchor="ctr"/>
          <a:lstStyle/>
          <a:p>
            <a:pPr marL="0" indent="0">
              <a:buNone/>
            </a:pPr>
            <a:r>
              <a:rPr lang="en-US" sz="1300" dirty="0">
                <a:solidFill>
                  <a:srgbClr val="A1A1AA"/>
                </a:solidFill>
                <a:latin typeface="Consolas" pitchFamily="34" charset="0"/>
                <a:ea typeface="Consolas" pitchFamily="34" charset="-122"/>
                <a:cs typeface="Consolas" pitchFamily="34" charset="-120"/>
              </a:rPr>
              <a:t>DataDirectory /var/lib/tor</a:t>
            </a:r>
            <a:endParaRPr lang="en-US" sz="1300" dirty="0"/>
          </a:p>
        </p:txBody>
      </p:sp>
      <p:sp>
        <p:nvSpPr>
          <p:cNvPr id="8" name="Text 6"/>
          <p:cNvSpPr/>
          <p:nvPr/>
        </p:nvSpPr>
        <p:spPr>
          <a:xfrm>
            <a:off x="822960" y="2011680"/>
            <a:ext cx="7315200" cy="274320"/>
          </a:xfrm>
          <a:prstGeom prst="rect">
            <a:avLst/>
          </a:prstGeom>
          <a:noFill/>
          <a:ln/>
        </p:spPr>
        <p:txBody>
          <a:bodyPr wrap="square" lIns="0" tIns="0" rIns="0" bIns="0" rtlCol="0" anchor="ctr"/>
          <a:lstStyle/>
          <a:p>
            <a:pPr marL="0" indent="0">
              <a:buNone/>
            </a:pPr>
            <a:r>
              <a:rPr lang="en-US" sz="1300" dirty="0">
                <a:solidFill>
                  <a:srgbClr val="F59E0B"/>
                </a:solidFill>
                <a:latin typeface="Consolas" pitchFamily="34" charset="0"/>
                <a:ea typeface="Consolas" pitchFamily="34" charset="-122"/>
                <a:cs typeface="Consolas" pitchFamily="34" charset="-120"/>
              </a:rPr>
              <a:t>SocksPort 0.0.0.0:9050</a:t>
            </a:r>
            <a:endParaRPr lang="en-US" sz="1300" dirty="0"/>
          </a:p>
        </p:txBody>
      </p:sp>
      <p:sp>
        <p:nvSpPr>
          <p:cNvPr id="9" name="Text 7"/>
          <p:cNvSpPr/>
          <p:nvPr/>
        </p:nvSpPr>
        <p:spPr>
          <a:xfrm>
            <a:off x="822960" y="2286000"/>
            <a:ext cx="7315200" cy="274320"/>
          </a:xfrm>
          <a:prstGeom prst="rect">
            <a:avLst/>
          </a:prstGeom>
          <a:noFill/>
          <a:ln/>
        </p:spPr>
        <p:txBody>
          <a:bodyPr wrap="square" lIns="0" tIns="0" rIns="0" bIns="0" rtlCol="0" anchor="ctr"/>
          <a:lstStyle/>
          <a:p>
            <a:pPr marL="0" indent="0">
              <a:buNone/>
            </a:pPr>
            <a:r>
              <a:rPr lang="en-US" sz="1300" dirty="0">
                <a:solidFill>
                  <a:srgbClr val="A1A1AA"/>
                </a:solidFill>
                <a:latin typeface="Consolas" pitchFamily="34" charset="0"/>
                <a:ea typeface="Consolas" pitchFamily="34" charset="-122"/>
                <a:cs typeface="Consolas" pitchFamily="34" charset="-120"/>
              </a:rPr>
              <a:t>ORPort 9001</a:t>
            </a:r>
            <a:endParaRPr lang="en-US" sz="1300" dirty="0"/>
          </a:p>
        </p:txBody>
      </p:sp>
      <p:sp>
        <p:nvSpPr>
          <p:cNvPr id="10" name="Text 8"/>
          <p:cNvSpPr/>
          <p:nvPr/>
        </p:nvSpPr>
        <p:spPr>
          <a:xfrm>
            <a:off x="822960" y="2560320"/>
            <a:ext cx="7315200" cy="274320"/>
          </a:xfrm>
          <a:prstGeom prst="rect">
            <a:avLst/>
          </a:prstGeom>
          <a:noFill/>
          <a:ln/>
        </p:spPr>
        <p:txBody>
          <a:bodyPr wrap="square" lIns="0" tIns="0" rIns="0" bIns="0" rtlCol="0" anchor="ctr"/>
          <a:lstStyle/>
          <a:p>
            <a:pPr marL="0" indent="0">
              <a:buNone/>
            </a:pPr>
            <a:r>
              <a:rPr lang="en-US" sz="1300" dirty="0">
                <a:solidFill>
                  <a:srgbClr val="EF4444"/>
                </a:solidFill>
                <a:latin typeface="Consolas" pitchFamily="34" charset="0"/>
                <a:ea typeface="Consolas" pitchFamily="34" charset="-122"/>
                <a:cs typeface="Consolas" pitchFamily="34" charset="-120"/>
              </a:rPr>
              <a:t>ExitRelay 1</a:t>
            </a:r>
            <a:endParaRPr lang="en-US" sz="1300" dirty="0"/>
          </a:p>
        </p:txBody>
      </p:sp>
      <p:sp>
        <p:nvSpPr>
          <p:cNvPr id="11" name="Text 9"/>
          <p:cNvSpPr/>
          <p:nvPr/>
        </p:nvSpPr>
        <p:spPr>
          <a:xfrm>
            <a:off x="822960" y="2834640"/>
            <a:ext cx="7315200" cy="274320"/>
          </a:xfrm>
          <a:prstGeom prst="rect">
            <a:avLst/>
          </a:prstGeom>
          <a:noFill/>
          <a:ln/>
        </p:spPr>
        <p:txBody>
          <a:bodyPr wrap="square" lIns="0" tIns="0" rIns="0" bIns="0" rtlCol="0" anchor="ctr"/>
          <a:lstStyle/>
          <a:p>
            <a:pPr marL="0" indent="0">
              <a:buNone/>
            </a:pPr>
            <a:r>
              <a:rPr lang="en-US" sz="1300" dirty="0">
                <a:solidFill>
                  <a:srgbClr val="EF4444"/>
                </a:solidFill>
                <a:latin typeface="Consolas" pitchFamily="34" charset="0"/>
                <a:ea typeface="Consolas" pitchFamily="34" charset="-122"/>
                <a:cs typeface="Consolas" pitchFamily="34" charset="-120"/>
              </a:rPr>
              <a:t>ExitPolicy accept *:*</a:t>
            </a:r>
            <a:endParaRPr lang="en-US" sz="1300" dirty="0"/>
          </a:p>
        </p:txBody>
      </p:sp>
      <p:sp>
        <p:nvSpPr>
          <p:cNvPr id="12" name="Text 10"/>
          <p:cNvSpPr/>
          <p:nvPr/>
        </p:nvSpPr>
        <p:spPr>
          <a:xfrm>
            <a:off x="822960" y="3108960"/>
            <a:ext cx="7315200" cy="274320"/>
          </a:xfrm>
          <a:prstGeom prst="rect">
            <a:avLst/>
          </a:prstGeom>
          <a:noFill/>
          <a:ln/>
        </p:spPr>
        <p:txBody>
          <a:bodyPr wrap="square" lIns="0" tIns="0" rIns="0" bIns="0" rtlCol="0" anchor="ctr"/>
          <a:lstStyle/>
          <a:p>
            <a:pPr marL="0" indent="0">
              <a:buNone/>
            </a:pPr>
            <a:r>
              <a:rPr lang="en-US" sz="1300" dirty="0">
                <a:solidFill>
                  <a:srgbClr val="A1A1AA"/>
                </a:solidFill>
                <a:latin typeface="Consolas" pitchFamily="34" charset="0"/>
                <a:ea typeface="Consolas" pitchFamily="34" charset="-122"/>
                <a:cs typeface="Consolas" pitchFamily="34" charset="-120"/>
              </a:rPr>
              <a:t>PublishServerDescriptor 0</a:t>
            </a:r>
            <a:endParaRPr lang="en-US" sz="1300" dirty="0"/>
          </a:p>
        </p:txBody>
      </p:sp>
      <p:sp>
        <p:nvSpPr>
          <p:cNvPr id="13" name="Text 11"/>
          <p:cNvSpPr/>
          <p:nvPr/>
        </p:nvSpPr>
        <p:spPr>
          <a:xfrm>
            <a:off x="822960" y="3383280"/>
            <a:ext cx="7315200" cy="274320"/>
          </a:xfrm>
          <a:prstGeom prst="rect">
            <a:avLst/>
          </a:prstGeom>
          <a:noFill/>
          <a:ln/>
        </p:spPr>
        <p:txBody>
          <a:bodyPr wrap="square" lIns="0" tIns="0" rIns="0" bIns="0" rtlCol="0" anchor="ctr"/>
          <a:lstStyle/>
          <a:p>
            <a:pPr marL="0" indent="0">
              <a:buNone/>
            </a:pPr>
            <a:r>
              <a:rPr lang="en-US" sz="1300" dirty="0">
                <a:solidFill>
                  <a:srgbClr val="F59E0B"/>
                </a:solidFill>
                <a:latin typeface="Consolas" pitchFamily="34" charset="0"/>
                <a:ea typeface="Consolas" pitchFamily="34" charset="-122"/>
                <a:cs typeface="Consolas" pitchFamily="34" charset="-120"/>
              </a:rPr>
              <a:t>AllowSingleHopCircuits 1</a:t>
            </a:r>
            <a:endParaRPr lang="en-US" sz="1300" dirty="0"/>
          </a:p>
        </p:txBody>
      </p:sp>
      <p:sp>
        <p:nvSpPr>
          <p:cNvPr id="14" name="Text 12"/>
          <p:cNvSpPr/>
          <p:nvPr/>
        </p:nvSpPr>
        <p:spPr>
          <a:xfrm>
            <a:off x="822960" y="3657600"/>
            <a:ext cx="7315200" cy="274320"/>
          </a:xfrm>
          <a:prstGeom prst="rect">
            <a:avLst/>
          </a:prstGeom>
          <a:noFill/>
          <a:ln/>
        </p:spPr>
        <p:txBody>
          <a:bodyPr wrap="square" lIns="0" tIns="0" rIns="0" bIns="0" rtlCol="0" anchor="ctr"/>
          <a:lstStyle/>
          <a:p>
            <a:pPr marL="0" indent="0">
              <a:buNone/>
            </a:pPr>
            <a:r>
              <a:rPr lang="en-US" sz="1300" dirty="0">
                <a:solidFill>
                  <a:srgbClr val="A1A1AA"/>
                </a:solidFill>
                <a:latin typeface="Consolas" pitchFamily="34" charset="0"/>
                <a:ea typeface="Consolas" pitchFamily="34" charset="-122"/>
                <a:cs typeface="Consolas" pitchFamily="34" charset="-120"/>
              </a:rPr>
              <a:t>Log notice stdout</a:t>
            </a:r>
            <a:endParaRPr lang="en-US" sz="1300" dirty="0"/>
          </a:p>
        </p:txBody>
      </p:sp>
      <p:sp>
        <p:nvSpPr>
          <p:cNvPr id="15" name="Shape 13"/>
          <p:cNvSpPr/>
          <p:nvPr/>
        </p:nvSpPr>
        <p:spPr>
          <a:xfrm>
            <a:off x="548640" y="4114800"/>
            <a:ext cx="8046720" cy="5943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6" name="Text 14"/>
          <p:cNvSpPr/>
          <p:nvPr/>
        </p:nvSpPr>
        <p:spPr>
          <a:xfrm>
            <a:off x="731520" y="4114800"/>
            <a:ext cx="7680960" cy="594360"/>
          </a:xfrm>
          <a:prstGeom prst="rect">
            <a:avLst/>
          </a:prstGeom>
          <a:noFill/>
          <a:ln/>
        </p:spPr>
        <p:txBody>
          <a:bodyPr wrap="square" lIns="0" tIns="0" rIns="0" bIns="0" rtlCol="0" anchor="ctr"/>
          <a:lstStyle/>
          <a:p>
            <a:pPr marL="0" indent="0">
              <a:buNone/>
            </a:pPr>
            <a:r>
              <a:rPr lang="en-US" sz="1200" i="1" dirty="0">
                <a:solidFill>
                  <a:srgbClr val="2DD4BF"/>
                </a:solidFill>
                <a:latin typeface="Calibri" pitchFamily="34" charset="0"/>
                <a:ea typeface="Calibri" pitchFamily="34" charset="-122"/>
                <a:cs typeface="Calibri" pitchFamily="34" charset="-120"/>
              </a:rPr>
              <a:t>Key: ExitRelay 1 + ExitPolicy accept *:* turns the node into an open exit relay. AllowSingleHopCircuits 1 enables direct-path testing.</a:t>
            </a:r>
            <a:endParaRPr lang="en-US" sz="1200" dirty="0"/>
          </a:p>
        </p:txBody>
      </p:sp>
    </p:spTree>
    <p:extLst>
      <p:ext uri="{BB962C8B-B14F-4D97-AF65-F5344CB8AC3E}">
        <p14:creationId xmlns:p14="http://schemas.microsoft.com/office/powerpoint/2010/main" val="1735384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Code Walkthrough — attacker.py</a:t>
            </a:r>
            <a:endParaRPr lang="en-US" sz="3000" dirty="0"/>
          </a:p>
        </p:txBody>
      </p:sp>
      <p:sp>
        <p:nvSpPr>
          <p:cNvPr id="5" name="Shape 3"/>
          <p:cNvSpPr/>
          <p:nvPr/>
        </p:nvSpPr>
        <p:spPr>
          <a:xfrm>
            <a:off x="548640" y="1280160"/>
            <a:ext cx="8046720" cy="3200400"/>
          </a:xfrm>
          <a:prstGeom prst="rect">
            <a:avLst/>
          </a:prstGeom>
          <a:solidFill>
            <a:srgbClr val="0D0D0D"/>
          </a:solidFill>
          <a:ln/>
          <a:effectLst>
            <a:outerShdw blurRad="50800" dist="25400" dir="8100000" algn="bl" rotWithShape="0">
              <a:srgbClr val="000000">
                <a:alpha val="20000"/>
              </a:srgbClr>
            </a:outerShdw>
          </a:effectLst>
        </p:spPr>
        <p:txBody>
          <a:bodyPr/>
          <a:lstStyle/>
          <a:p>
            <a:endParaRPr lang="en-US"/>
          </a:p>
        </p:txBody>
      </p:sp>
      <p:sp>
        <p:nvSpPr>
          <p:cNvPr id="6" name="Text 4"/>
          <p:cNvSpPr/>
          <p:nvPr/>
        </p:nvSpPr>
        <p:spPr>
          <a:xfrm>
            <a:off x="822960" y="1371600"/>
            <a:ext cx="7315200" cy="201168"/>
          </a:xfrm>
          <a:prstGeom prst="rect">
            <a:avLst/>
          </a:prstGeom>
          <a:noFill/>
          <a:ln/>
        </p:spPr>
        <p:txBody>
          <a:bodyPr wrap="square" lIns="0" tIns="0" rIns="0" bIns="0" rtlCol="0" anchor="ctr"/>
          <a:lstStyle/>
          <a:p>
            <a:pPr marL="0" indent="0">
              <a:buNone/>
            </a:pPr>
            <a:r>
              <a:rPr lang="en-US" sz="1000" dirty="0">
                <a:solidFill>
                  <a:srgbClr val="2DD4BF"/>
                </a:solidFill>
                <a:latin typeface="Consolas" pitchFamily="34" charset="0"/>
                <a:ea typeface="Consolas" pitchFamily="34" charset="-122"/>
                <a:cs typeface="Consolas" pitchFamily="34" charset="-120"/>
              </a:rPr>
              <a:t>from scapy.all import *</a:t>
            </a:r>
            <a:endParaRPr lang="en-US" sz="1000" dirty="0"/>
          </a:p>
        </p:txBody>
      </p:sp>
      <p:sp>
        <p:nvSpPr>
          <p:cNvPr id="7" name="Text 5"/>
          <p:cNvSpPr/>
          <p:nvPr/>
        </p:nvSpPr>
        <p:spPr>
          <a:xfrm>
            <a:off x="822960" y="1572768"/>
            <a:ext cx="7315200" cy="201168"/>
          </a:xfrm>
          <a:prstGeom prst="rect">
            <a:avLst/>
          </a:prstGeom>
          <a:noFill/>
          <a:ln/>
        </p:spPr>
        <p:txBody>
          <a:bodyPr wrap="square" lIns="0" tIns="0" rIns="0" bIns="0" rtlCol="0" anchor="ctr"/>
          <a:lstStyle/>
          <a:p>
            <a:pPr marL="0" indent="0">
              <a:buNone/>
            </a:pPr>
            <a:endParaRPr lang="en-US" sz="1000" dirty="0"/>
          </a:p>
        </p:txBody>
      </p:sp>
      <p:sp>
        <p:nvSpPr>
          <p:cNvPr id="8" name="Text 6"/>
          <p:cNvSpPr/>
          <p:nvPr/>
        </p:nvSpPr>
        <p:spPr>
          <a:xfrm>
            <a:off x="822960" y="1773936"/>
            <a:ext cx="7315200" cy="201168"/>
          </a:xfrm>
          <a:prstGeom prst="rect">
            <a:avLst/>
          </a:prstGeom>
          <a:noFill/>
          <a:ln/>
        </p:spPr>
        <p:txBody>
          <a:bodyPr wrap="square" lIns="0" tIns="0" rIns="0" bIns="0" rtlCol="0" anchor="ctr"/>
          <a:lstStyle/>
          <a:p>
            <a:pPr marL="0" indent="0">
              <a:buNone/>
            </a:pPr>
            <a:r>
              <a:rPr lang="en-US" sz="1000" dirty="0">
                <a:solidFill>
                  <a:srgbClr val="22C55E"/>
                </a:solidFill>
                <a:latin typeface="Consolas" pitchFamily="34" charset="0"/>
                <a:ea typeface="Consolas" pitchFamily="34" charset="-122"/>
                <a:cs typeface="Consolas" pitchFamily="34" charset="-120"/>
              </a:rPr>
              <a:t>def extract_credentials(packet):</a:t>
            </a:r>
            <a:endParaRPr lang="en-US" sz="1000" dirty="0"/>
          </a:p>
        </p:txBody>
      </p:sp>
      <p:sp>
        <p:nvSpPr>
          <p:cNvPr id="9" name="Text 7"/>
          <p:cNvSpPr/>
          <p:nvPr/>
        </p:nvSpPr>
        <p:spPr>
          <a:xfrm>
            <a:off x="822960" y="1975104"/>
            <a:ext cx="7315200" cy="201168"/>
          </a:xfrm>
          <a:prstGeom prst="rect">
            <a:avLst/>
          </a:prstGeom>
          <a:noFill/>
          <a:ln/>
        </p:spPr>
        <p:txBody>
          <a:bodyPr wrap="square" lIns="0" tIns="0" rIns="0" bIns="0" rtlCol="0" anchor="ctr"/>
          <a:lstStyle/>
          <a:p>
            <a:pPr marL="0" indent="0">
              <a:buNone/>
            </a:pPr>
            <a:r>
              <a:rPr lang="en-US" sz="1000" dirty="0">
                <a:solidFill>
                  <a:srgbClr val="A1A1AA"/>
                </a:solidFill>
                <a:latin typeface="Consolas" pitchFamily="34" charset="0"/>
                <a:ea typeface="Consolas" pitchFamily="34" charset="-122"/>
                <a:cs typeface="Consolas" pitchFamily="34" charset="-120"/>
              </a:rPr>
              <a:t>    if packet.haslayer(Raw):</a:t>
            </a:r>
            <a:endParaRPr lang="en-US" sz="1000" dirty="0"/>
          </a:p>
        </p:txBody>
      </p:sp>
      <p:sp>
        <p:nvSpPr>
          <p:cNvPr id="10" name="Text 8"/>
          <p:cNvSpPr/>
          <p:nvPr/>
        </p:nvSpPr>
        <p:spPr>
          <a:xfrm>
            <a:off x="822960" y="2176272"/>
            <a:ext cx="7315200" cy="201168"/>
          </a:xfrm>
          <a:prstGeom prst="rect">
            <a:avLst/>
          </a:prstGeom>
          <a:noFill/>
          <a:ln/>
        </p:spPr>
        <p:txBody>
          <a:bodyPr wrap="square" lIns="0" tIns="0" rIns="0" bIns="0" rtlCol="0" anchor="ctr"/>
          <a:lstStyle/>
          <a:p>
            <a:pPr marL="0" indent="0">
              <a:buNone/>
            </a:pPr>
            <a:r>
              <a:rPr lang="en-US" sz="1000" dirty="0">
                <a:solidFill>
                  <a:srgbClr val="A1A1AA"/>
                </a:solidFill>
                <a:latin typeface="Consolas" pitchFamily="34" charset="0"/>
                <a:ea typeface="Consolas" pitchFamily="34" charset="-122"/>
                <a:cs typeface="Consolas" pitchFamily="34" charset="-120"/>
              </a:rPr>
              <a:t>        try:</a:t>
            </a:r>
            <a:endParaRPr lang="en-US" sz="1000" dirty="0"/>
          </a:p>
        </p:txBody>
      </p:sp>
      <p:sp>
        <p:nvSpPr>
          <p:cNvPr id="11" name="Text 9"/>
          <p:cNvSpPr/>
          <p:nvPr/>
        </p:nvSpPr>
        <p:spPr>
          <a:xfrm>
            <a:off x="822960" y="2377440"/>
            <a:ext cx="7315200" cy="201168"/>
          </a:xfrm>
          <a:prstGeom prst="rect">
            <a:avLst/>
          </a:prstGeom>
          <a:noFill/>
          <a:ln/>
        </p:spPr>
        <p:txBody>
          <a:bodyPr wrap="square" lIns="0" tIns="0" rIns="0" bIns="0" rtlCol="0" anchor="ctr"/>
          <a:lstStyle/>
          <a:p>
            <a:pPr marL="0" indent="0">
              <a:buNone/>
            </a:pPr>
            <a:r>
              <a:rPr lang="en-US" sz="1000" dirty="0">
                <a:solidFill>
                  <a:srgbClr val="A1A1AA"/>
                </a:solidFill>
                <a:latin typeface="Consolas" pitchFamily="34" charset="0"/>
                <a:ea typeface="Consolas" pitchFamily="34" charset="-122"/>
                <a:cs typeface="Consolas" pitchFamily="34" charset="-120"/>
              </a:rPr>
              <a:t>            payload = packet[Raw].load.decode(</a:t>
            </a:r>
            <a:endParaRPr lang="en-US" sz="1000" dirty="0"/>
          </a:p>
        </p:txBody>
      </p:sp>
      <p:sp>
        <p:nvSpPr>
          <p:cNvPr id="12" name="Text 10"/>
          <p:cNvSpPr/>
          <p:nvPr/>
        </p:nvSpPr>
        <p:spPr>
          <a:xfrm>
            <a:off x="822960" y="2578608"/>
            <a:ext cx="7315200" cy="201168"/>
          </a:xfrm>
          <a:prstGeom prst="rect">
            <a:avLst/>
          </a:prstGeom>
          <a:noFill/>
          <a:ln/>
        </p:spPr>
        <p:txBody>
          <a:bodyPr wrap="square" lIns="0" tIns="0" rIns="0" bIns="0" rtlCol="0" anchor="ctr"/>
          <a:lstStyle/>
          <a:p>
            <a:pPr marL="0" indent="0">
              <a:buNone/>
            </a:pPr>
            <a:r>
              <a:rPr lang="en-US" sz="1000" dirty="0">
                <a:solidFill>
                  <a:srgbClr val="A1A1AA"/>
                </a:solidFill>
                <a:latin typeface="Consolas" pitchFamily="34" charset="0"/>
                <a:ea typeface="Consolas" pitchFamily="34" charset="-122"/>
                <a:cs typeface="Consolas" pitchFamily="34" charset="-120"/>
              </a:rPr>
              <a:t>                errors='ignore').lower()</a:t>
            </a:r>
            <a:endParaRPr lang="en-US" sz="1000" dirty="0"/>
          </a:p>
        </p:txBody>
      </p:sp>
      <p:sp>
        <p:nvSpPr>
          <p:cNvPr id="13" name="Text 11"/>
          <p:cNvSpPr/>
          <p:nvPr/>
        </p:nvSpPr>
        <p:spPr>
          <a:xfrm>
            <a:off x="822960" y="2779776"/>
            <a:ext cx="7315200" cy="201168"/>
          </a:xfrm>
          <a:prstGeom prst="rect">
            <a:avLst/>
          </a:prstGeom>
          <a:noFill/>
          <a:ln/>
        </p:spPr>
        <p:txBody>
          <a:bodyPr wrap="square" lIns="0" tIns="0" rIns="0" bIns="0" rtlCol="0" anchor="ctr"/>
          <a:lstStyle/>
          <a:p>
            <a:pPr marL="0" indent="0">
              <a:buNone/>
            </a:pPr>
            <a:r>
              <a:rPr lang="en-US" sz="1000" dirty="0">
                <a:solidFill>
                  <a:srgbClr val="F59E0B"/>
                </a:solidFill>
                <a:latin typeface="Consolas" pitchFamily="34" charset="0"/>
                <a:ea typeface="Consolas" pitchFamily="34" charset="-122"/>
                <a:cs typeface="Consolas" pitchFamily="34" charset="-120"/>
              </a:rPr>
              <a:t>            if "password=" in payload \</a:t>
            </a:r>
            <a:endParaRPr lang="en-US" sz="1000" dirty="0"/>
          </a:p>
        </p:txBody>
      </p:sp>
      <p:sp>
        <p:nvSpPr>
          <p:cNvPr id="14" name="Text 12"/>
          <p:cNvSpPr/>
          <p:nvPr/>
        </p:nvSpPr>
        <p:spPr>
          <a:xfrm>
            <a:off x="822960" y="2980944"/>
            <a:ext cx="7315200" cy="201168"/>
          </a:xfrm>
          <a:prstGeom prst="rect">
            <a:avLst/>
          </a:prstGeom>
          <a:noFill/>
          <a:ln/>
        </p:spPr>
        <p:txBody>
          <a:bodyPr wrap="square" lIns="0" tIns="0" rIns="0" bIns="0" rtlCol="0" anchor="ctr"/>
          <a:lstStyle/>
          <a:p>
            <a:pPr marL="0" indent="0">
              <a:buNone/>
            </a:pPr>
            <a:r>
              <a:rPr lang="en-US" sz="1000" dirty="0">
                <a:solidFill>
                  <a:srgbClr val="F59E0B"/>
                </a:solidFill>
                <a:latin typeface="Consolas" pitchFamily="34" charset="0"/>
                <a:ea typeface="Consolas" pitchFamily="34" charset="-122"/>
                <a:cs typeface="Consolas" pitchFamily="34" charset="-120"/>
              </a:rPr>
              <a:t>               or "user=" in payload:</a:t>
            </a:r>
            <a:endParaRPr lang="en-US" sz="1000" dirty="0"/>
          </a:p>
        </p:txBody>
      </p:sp>
      <p:sp>
        <p:nvSpPr>
          <p:cNvPr id="15" name="Text 13"/>
          <p:cNvSpPr/>
          <p:nvPr/>
        </p:nvSpPr>
        <p:spPr>
          <a:xfrm>
            <a:off x="822960" y="3182112"/>
            <a:ext cx="7315200" cy="201168"/>
          </a:xfrm>
          <a:prstGeom prst="rect">
            <a:avLst/>
          </a:prstGeom>
          <a:noFill/>
          <a:ln/>
        </p:spPr>
        <p:txBody>
          <a:bodyPr wrap="square" lIns="0" tIns="0" rIns="0" bIns="0" rtlCol="0" anchor="ctr"/>
          <a:lstStyle/>
          <a:p>
            <a:pPr marL="0" indent="0">
              <a:buNone/>
            </a:pPr>
            <a:r>
              <a:rPr lang="en-US" sz="1000" dirty="0">
                <a:solidFill>
                  <a:srgbClr val="EF4444"/>
                </a:solidFill>
                <a:latin typeface="Consolas" pitchFamily="34" charset="0"/>
                <a:ea typeface="Consolas" pitchFamily="34" charset="-122"/>
                <a:cs typeface="Consolas" pitchFamily="34" charset="-120"/>
              </a:rPr>
              <a:t>                print(f"[+] Credentials: {payload}")</a:t>
            </a:r>
            <a:endParaRPr lang="en-US" sz="1000" dirty="0"/>
          </a:p>
        </p:txBody>
      </p:sp>
      <p:sp>
        <p:nvSpPr>
          <p:cNvPr id="16" name="Text 14"/>
          <p:cNvSpPr/>
          <p:nvPr/>
        </p:nvSpPr>
        <p:spPr>
          <a:xfrm>
            <a:off x="822960" y="3383280"/>
            <a:ext cx="7315200" cy="201168"/>
          </a:xfrm>
          <a:prstGeom prst="rect">
            <a:avLst/>
          </a:prstGeom>
          <a:noFill/>
          <a:ln/>
        </p:spPr>
        <p:txBody>
          <a:bodyPr wrap="square" lIns="0" tIns="0" rIns="0" bIns="0" rtlCol="0" anchor="ctr"/>
          <a:lstStyle/>
          <a:p>
            <a:pPr marL="0" indent="0">
              <a:buNone/>
            </a:pPr>
            <a:r>
              <a:rPr lang="en-US" sz="1000" dirty="0">
                <a:solidFill>
                  <a:srgbClr val="A1A1AA"/>
                </a:solidFill>
                <a:latin typeface="Consolas" pitchFamily="34" charset="0"/>
                <a:ea typeface="Consolas" pitchFamily="34" charset="-122"/>
                <a:cs typeface="Consolas" pitchFamily="34" charset="-120"/>
              </a:rPr>
              <a:t>        except Exception: pass</a:t>
            </a:r>
            <a:endParaRPr lang="en-US" sz="1000" dirty="0"/>
          </a:p>
        </p:txBody>
      </p:sp>
      <p:sp>
        <p:nvSpPr>
          <p:cNvPr id="17" name="Text 15"/>
          <p:cNvSpPr/>
          <p:nvPr/>
        </p:nvSpPr>
        <p:spPr>
          <a:xfrm>
            <a:off x="822960" y="3584448"/>
            <a:ext cx="7315200" cy="201168"/>
          </a:xfrm>
          <a:prstGeom prst="rect">
            <a:avLst/>
          </a:prstGeom>
          <a:noFill/>
          <a:ln/>
        </p:spPr>
        <p:txBody>
          <a:bodyPr wrap="square" lIns="0" tIns="0" rIns="0" bIns="0" rtlCol="0" anchor="ctr"/>
          <a:lstStyle/>
          <a:p>
            <a:pPr marL="0" indent="0">
              <a:buNone/>
            </a:pPr>
            <a:endParaRPr lang="en-US" sz="1000" dirty="0"/>
          </a:p>
        </p:txBody>
      </p:sp>
      <p:sp>
        <p:nvSpPr>
          <p:cNvPr id="18" name="Text 16"/>
          <p:cNvSpPr/>
          <p:nvPr/>
        </p:nvSpPr>
        <p:spPr>
          <a:xfrm>
            <a:off x="822960" y="3785616"/>
            <a:ext cx="7315200" cy="201168"/>
          </a:xfrm>
          <a:prstGeom prst="rect">
            <a:avLst/>
          </a:prstGeom>
          <a:noFill/>
          <a:ln/>
        </p:spPr>
        <p:txBody>
          <a:bodyPr wrap="square" lIns="0" tIns="0" rIns="0" bIns="0" rtlCol="0" anchor="ctr"/>
          <a:lstStyle/>
          <a:p>
            <a:pPr marL="0" indent="0">
              <a:buNone/>
            </a:pPr>
            <a:r>
              <a:rPr lang="en-US" sz="1000" dirty="0">
                <a:solidFill>
                  <a:srgbClr val="2DD4BF"/>
                </a:solidFill>
                <a:latin typeface="Consolas" pitchFamily="34" charset="0"/>
                <a:ea typeface="Consolas" pitchFamily="34" charset="-122"/>
                <a:cs typeface="Consolas" pitchFamily="34" charset="-120"/>
              </a:rPr>
              <a:t>sniff(iface="eth0", filter="tcp",</a:t>
            </a:r>
            <a:endParaRPr lang="en-US" sz="1000" dirty="0"/>
          </a:p>
        </p:txBody>
      </p:sp>
      <p:sp>
        <p:nvSpPr>
          <p:cNvPr id="19" name="Text 17"/>
          <p:cNvSpPr/>
          <p:nvPr/>
        </p:nvSpPr>
        <p:spPr>
          <a:xfrm>
            <a:off x="822960" y="3986784"/>
            <a:ext cx="7315200" cy="201168"/>
          </a:xfrm>
          <a:prstGeom prst="rect">
            <a:avLst/>
          </a:prstGeom>
          <a:noFill/>
          <a:ln/>
        </p:spPr>
        <p:txBody>
          <a:bodyPr wrap="square" lIns="0" tIns="0" rIns="0" bIns="0" rtlCol="0" anchor="ctr"/>
          <a:lstStyle/>
          <a:p>
            <a:pPr marL="0" indent="0">
              <a:buNone/>
            </a:pPr>
            <a:r>
              <a:rPr lang="en-US" sz="1000" dirty="0">
                <a:solidFill>
                  <a:srgbClr val="2DD4BF"/>
                </a:solidFill>
                <a:latin typeface="Consolas" pitchFamily="34" charset="0"/>
                <a:ea typeface="Consolas" pitchFamily="34" charset="-122"/>
                <a:cs typeface="Consolas" pitchFamily="34" charset="-120"/>
              </a:rPr>
              <a:t>      prn=extract_credentials, store=0)</a:t>
            </a:r>
            <a:endParaRPr lang="en-US" sz="1000" dirty="0"/>
          </a:p>
        </p:txBody>
      </p:sp>
      <p:pic>
        <p:nvPicPr>
          <p:cNvPr id="20" name="Image 0" descr="preencoded.png"/>
          <p:cNvPicPr>
            <a:picLocks noChangeAspect="1"/>
          </p:cNvPicPr>
          <p:nvPr/>
        </p:nvPicPr>
        <p:blipFill>
          <a:blip r:embed="rId3"/>
          <a:stretch>
            <a:fillRect/>
          </a:stretch>
        </p:blipFill>
        <p:spPr>
          <a:xfrm>
            <a:off x="685800" y="4572000"/>
            <a:ext cx="320040" cy="320040"/>
          </a:xfrm>
          <a:prstGeom prst="rect">
            <a:avLst/>
          </a:prstGeom>
        </p:spPr>
      </p:pic>
      <p:sp>
        <p:nvSpPr>
          <p:cNvPr id="21" name="Text 18"/>
          <p:cNvSpPr/>
          <p:nvPr/>
        </p:nvSpPr>
        <p:spPr>
          <a:xfrm>
            <a:off x="1097280" y="4572000"/>
            <a:ext cx="7498080" cy="365760"/>
          </a:xfrm>
          <a:prstGeom prst="rect">
            <a:avLst/>
          </a:prstGeom>
          <a:noFill/>
          <a:ln/>
        </p:spPr>
        <p:txBody>
          <a:bodyPr wrap="square" lIns="0" tIns="0" rIns="0" bIns="0" rtlCol="0" anchor="ctr"/>
          <a:lstStyle/>
          <a:p>
            <a:pPr marL="0" indent="0">
              <a:buNone/>
            </a:pPr>
            <a:r>
              <a:rPr lang="en-US" sz="1200" dirty="0">
                <a:solidFill>
                  <a:srgbClr val="2DD4BF"/>
                </a:solidFill>
                <a:latin typeface="Calibri" pitchFamily="34" charset="0"/>
                <a:ea typeface="Calibri" pitchFamily="34" charset="-122"/>
                <a:cs typeface="Calibri" pitchFamily="34" charset="-120"/>
              </a:rPr>
              <a:t>Raw payload scanner: searches for "password=" and "user=" in every TCP packet's raw bytes, independent of protocol layer.</a:t>
            </a:r>
            <a:endParaRPr lang="en-US" sz="1200" dirty="0"/>
          </a:p>
        </p:txBody>
      </p:sp>
    </p:spTree>
    <p:extLst>
      <p:ext uri="{BB962C8B-B14F-4D97-AF65-F5344CB8AC3E}">
        <p14:creationId xmlns:p14="http://schemas.microsoft.com/office/powerpoint/2010/main" val="619988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Attack Simulation — Process Flow</a:t>
            </a:r>
            <a:endParaRPr lang="en-US" sz="3000" dirty="0"/>
          </a:p>
        </p:txBody>
      </p:sp>
      <p:sp>
        <p:nvSpPr>
          <p:cNvPr id="5" name="Shape 3"/>
          <p:cNvSpPr/>
          <p:nvPr/>
        </p:nvSpPr>
        <p:spPr>
          <a:xfrm>
            <a:off x="274320" y="1371600"/>
            <a:ext cx="1920240" cy="201168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6" name="Shape 4"/>
          <p:cNvSpPr/>
          <p:nvPr/>
        </p:nvSpPr>
        <p:spPr>
          <a:xfrm>
            <a:off x="960120" y="1463040"/>
            <a:ext cx="502920" cy="502920"/>
          </a:xfrm>
          <a:prstGeom prst="ellipse">
            <a:avLst/>
          </a:prstGeom>
          <a:solidFill>
            <a:srgbClr val="2DD4BF"/>
          </a:solidFill>
          <a:ln/>
        </p:spPr>
        <p:txBody>
          <a:bodyPr/>
          <a:lstStyle/>
          <a:p>
            <a:endParaRPr lang="en-US"/>
          </a:p>
        </p:txBody>
      </p:sp>
      <p:sp>
        <p:nvSpPr>
          <p:cNvPr id="7" name="Text 5"/>
          <p:cNvSpPr/>
          <p:nvPr/>
        </p:nvSpPr>
        <p:spPr>
          <a:xfrm>
            <a:off x="960120" y="1463040"/>
            <a:ext cx="502920" cy="502920"/>
          </a:xfrm>
          <a:prstGeom prst="rect">
            <a:avLst/>
          </a:prstGeom>
          <a:noFill/>
          <a:ln/>
        </p:spPr>
        <p:txBody>
          <a:bodyPr wrap="square" lIns="0" tIns="0" rIns="0" bIns="0" rtlCol="0" anchor="ctr"/>
          <a:lstStyle/>
          <a:p>
            <a:pPr marL="0" indent="0" algn="ctr">
              <a:buNone/>
            </a:pPr>
            <a:r>
              <a:rPr lang="en-US" sz="2000" b="1" dirty="0">
                <a:solidFill>
                  <a:srgbClr val="1E1E2E"/>
                </a:solidFill>
                <a:latin typeface="Trebuchet MS" pitchFamily="34" charset="0"/>
                <a:ea typeface="Trebuchet MS" pitchFamily="34" charset="-122"/>
                <a:cs typeface="Trebuchet MS" pitchFamily="34" charset="-120"/>
              </a:rPr>
              <a:t>1</a:t>
            </a:r>
            <a:endParaRPr lang="en-US" sz="2000" dirty="0"/>
          </a:p>
        </p:txBody>
      </p:sp>
      <p:sp>
        <p:nvSpPr>
          <p:cNvPr id="8" name="Text 6"/>
          <p:cNvSpPr/>
          <p:nvPr/>
        </p:nvSpPr>
        <p:spPr>
          <a:xfrm>
            <a:off x="365760" y="2057400"/>
            <a:ext cx="173736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Relay Init</a:t>
            </a:r>
            <a:endParaRPr lang="en-US" sz="1400" dirty="0"/>
          </a:p>
        </p:txBody>
      </p:sp>
      <p:sp>
        <p:nvSpPr>
          <p:cNvPr id="9" name="Text 7"/>
          <p:cNvSpPr/>
          <p:nvPr/>
        </p:nvSpPr>
        <p:spPr>
          <a:xfrm>
            <a:off x="365760" y="2423160"/>
            <a:ext cx="1737360" cy="777240"/>
          </a:xfrm>
          <a:prstGeom prst="rect">
            <a:avLst/>
          </a:prstGeom>
          <a:noFill/>
          <a:ln/>
        </p:spPr>
        <p:txBody>
          <a:bodyPr wrap="square" lIns="0" tIns="0" rIns="0" bIns="0" rtlCol="0" anchor="ctr"/>
          <a:lstStyle/>
          <a:p>
            <a:pPr marL="0" indent="0" algn="ctr">
              <a:buNone/>
            </a:pPr>
            <a:r>
              <a:rPr lang="en-US" sz="1100" dirty="0">
                <a:solidFill>
                  <a:srgbClr val="A1A1AA"/>
                </a:solidFill>
                <a:latin typeface="Calibri" pitchFamily="34" charset="0"/>
                <a:ea typeface="Calibri" pitchFamily="34" charset="-122"/>
                <a:cs typeface="Calibri" pitchFamily="34" charset="-120"/>
              </a:rPr>
              <a:t>Start Tor with root</a:t>
            </a:r>
            <a:endParaRPr lang="en-US" sz="1100" dirty="0"/>
          </a:p>
          <a:p>
            <a:pPr marL="0" indent="0" algn="ctr">
              <a:buNone/>
            </a:pPr>
            <a:r>
              <a:rPr lang="en-US" sz="1100" dirty="0">
                <a:solidFill>
                  <a:srgbClr val="A1A1AA"/>
                </a:solidFill>
                <a:latin typeface="Calibri" pitchFamily="34" charset="0"/>
                <a:ea typeface="Calibri" pitchFamily="34" charset="-122"/>
                <a:cs typeface="Calibri" pitchFamily="34" charset="-120"/>
              </a:rPr>
              <a:t>privileges, confirm</a:t>
            </a:r>
            <a:endParaRPr lang="en-US" sz="1100" dirty="0"/>
          </a:p>
          <a:p>
            <a:pPr marL="0" indent="0" algn="ctr">
              <a:buNone/>
            </a:pPr>
            <a:r>
              <a:rPr lang="en-US" sz="1100" dirty="0">
                <a:solidFill>
                  <a:srgbClr val="A1A1AA"/>
                </a:solidFill>
                <a:latin typeface="Calibri" pitchFamily="34" charset="0"/>
                <a:ea typeface="Calibri" pitchFamily="34" charset="-122"/>
                <a:cs typeface="Calibri" pitchFamily="34" charset="-120"/>
              </a:rPr>
              <a:t>Bootstrapped 100%</a:t>
            </a:r>
            <a:endParaRPr lang="en-US" sz="1100" dirty="0"/>
          </a:p>
        </p:txBody>
      </p:sp>
      <p:pic>
        <p:nvPicPr>
          <p:cNvPr id="10" name="Image 0" descr="preencoded.png"/>
          <p:cNvPicPr>
            <a:picLocks noChangeAspect="1"/>
          </p:cNvPicPr>
          <p:nvPr/>
        </p:nvPicPr>
        <p:blipFill>
          <a:blip r:embed="rId3"/>
          <a:stretch>
            <a:fillRect/>
          </a:stretch>
        </p:blipFill>
        <p:spPr>
          <a:xfrm>
            <a:off x="2194560" y="2125980"/>
            <a:ext cx="320040" cy="320040"/>
          </a:xfrm>
          <a:prstGeom prst="rect">
            <a:avLst/>
          </a:prstGeom>
        </p:spPr>
      </p:pic>
      <p:sp>
        <p:nvSpPr>
          <p:cNvPr id="11" name="Shape 8"/>
          <p:cNvSpPr/>
          <p:nvPr/>
        </p:nvSpPr>
        <p:spPr>
          <a:xfrm>
            <a:off x="2468880" y="1371600"/>
            <a:ext cx="1920240" cy="201168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2" name="Shape 9"/>
          <p:cNvSpPr/>
          <p:nvPr/>
        </p:nvSpPr>
        <p:spPr>
          <a:xfrm>
            <a:off x="3154680" y="1463040"/>
            <a:ext cx="502920" cy="502920"/>
          </a:xfrm>
          <a:prstGeom prst="ellipse">
            <a:avLst/>
          </a:prstGeom>
          <a:solidFill>
            <a:srgbClr val="2DD4BF"/>
          </a:solidFill>
          <a:ln/>
        </p:spPr>
        <p:txBody>
          <a:bodyPr/>
          <a:lstStyle/>
          <a:p>
            <a:endParaRPr lang="en-US"/>
          </a:p>
        </p:txBody>
      </p:sp>
      <p:sp>
        <p:nvSpPr>
          <p:cNvPr id="13" name="Text 10"/>
          <p:cNvSpPr/>
          <p:nvPr/>
        </p:nvSpPr>
        <p:spPr>
          <a:xfrm>
            <a:off x="3154680" y="1463040"/>
            <a:ext cx="502920" cy="502920"/>
          </a:xfrm>
          <a:prstGeom prst="rect">
            <a:avLst/>
          </a:prstGeom>
          <a:noFill/>
          <a:ln/>
        </p:spPr>
        <p:txBody>
          <a:bodyPr wrap="square" lIns="0" tIns="0" rIns="0" bIns="0" rtlCol="0" anchor="ctr"/>
          <a:lstStyle/>
          <a:p>
            <a:pPr marL="0" indent="0" algn="ctr">
              <a:buNone/>
            </a:pPr>
            <a:r>
              <a:rPr lang="en-US" sz="2000" b="1" dirty="0">
                <a:solidFill>
                  <a:srgbClr val="1E1E2E"/>
                </a:solidFill>
                <a:latin typeface="Trebuchet MS" pitchFamily="34" charset="0"/>
                <a:ea typeface="Trebuchet MS" pitchFamily="34" charset="-122"/>
                <a:cs typeface="Trebuchet MS" pitchFamily="34" charset="-120"/>
              </a:rPr>
              <a:t>2</a:t>
            </a:r>
            <a:endParaRPr lang="en-US" sz="2000" dirty="0"/>
          </a:p>
        </p:txBody>
      </p:sp>
      <p:sp>
        <p:nvSpPr>
          <p:cNvPr id="14" name="Text 11"/>
          <p:cNvSpPr/>
          <p:nvPr/>
        </p:nvSpPr>
        <p:spPr>
          <a:xfrm>
            <a:off x="2560320" y="2057400"/>
            <a:ext cx="173736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Start Sniffer</a:t>
            </a:r>
            <a:endParaRPr lang="en-US" sz="1400" dirty="0"/>
          </a:p>
        </p:txBody>
      </p:sp>
      <p:sp>
        <p:nvSpPr>
          <p:cNvPr id="15" name="Text 12"/>
          <p:cNvSpPr/>
          <p:nvPr/>
        </p:nvSpPr>
        <p:spPr>
          <a:xfrm>
            <a:off x="2560320" y="2423160"/>
            <a:ext cx="1737360" cy="777240"/>
          </a:xfrm>
          <a:prstGeom prst="rect">
            <a:avLst/>
          </a:prstGeom>
          <a:noFill/>
          <a:ln/>
        </p:spPr>
        <p:txBody>
          <a:bodyPr wrap="square" lIns="0" tIns="0" rIns="0" bIns="0" rtlCol="0" anchor="ctr"/>
          <a:lstStyle/>
          <a:p>
            <a:pPr marL="0" indent="0" algn="ctr">
              <a:buNone/>
            </a:pPr>
            <a:r>
              <a:rPr lang="en-US" sz="1100" dirty="0">
                <a:solidFill>
                  <a:srgbClr val="A1A1AA"/>
                </a:solidFill>
                <a:latin typeface="Calibri" pitchFamily="34" charset="0"/>
                <a:ea typeface="Calibri" pitchFamily="34" charset="-122"/>
                <a:cs typeface="Calibri" pitchFamily="34" charset="-120"/>
              </a:rPr>
              <a:t>Execute attacker.py</a:t>
            </a:r>
            <a:endParaRPr lang="en-US" sz="1100" dirty="0"/>
          </a:p>
          <a:p>
            <a:pPr marL="0" indent="0" algn="ctr">
              <a:buNone/>
            </a:pPr>
            <a:r>
              <a:rPr lang="en-US" sz="1100" dirty="0">
                <a:solidFill>
                  <a:srgbClr val="A1A1AA"/>
                </a:solidFill>
                <a:latin typeface="Calibri" pitchFamily="34" charset="0"/>
                <a:ea typeface="Calibri" pitchFamily="34" charset="-122"/>
                <a:cs typeface="Calibri" pitchFamily="34" charset="-120"/>
              </a:rPr>
              <a:t>to sniff eth0</a:t>
            </a:r>
            <a:endParaRPr lang="en-US" sz="1100" dirty="0"/>
          </a:p>
          <a:p>
            <a:pPr marL="0" indent="0" algn="ctr">
              <a:buNone/>
            </a:pPr>
            <a:r>
              <a:rPr lang="en-US" sz="1100" dirty="0">
                <a:solidFill>
                  <a:srgbClr val="A1A1AA"/>
                </a:solidFill>
                <a:latin typeface="Calibri" pitchFamily="34" charset="0"/>
                <a:ea typeface="Calibri" pitchFamily="34" charset="-122"/>
                <a:cs typeface="Calibri" pitchFamily="34" charset="-120"/>
              </a:rPr>
              <a:t>interface traffic</a:t>
            </a:r>
            <a:endParaRPr lang="en-US" sz="1100" dirty="0"/>
          </a:p>
        </p:txBody>
      </p:sp>
      <p:pic>
        <p:nvPicPr>
          <p:cNvPr id="16" name="Image 1" descr="preencoded.png"/>
          <p:cNvPicPr>
            <a:picLocks noChangeAspect="1"/>
          </p:cNvPicPr>
          <p:nvPr/>
        </p:nvPicPr>
        <p:blipFill>
          <a:blip r:embed="rId3"/>
          <a:stretch>
            <a:fillRect/>
          </a:stretch>
        </p:blipFill>
        <p:spPr>
          <a:xfrm>
            <a:off x="4389120" y="2114550"/>
            <a:ext cx="320040" cy="320040"/>
          </a:xfrm>
          <a:prstGeom prst="rect">
            <a:avLst/>
          </a:prstGeom>
        </p:spPr>
      </p:pic>
      <p:sp>
        <p:nvSpPr>
          <p:cNvPr id="17" name="Shape 13"/>
          <p:cNvSpPr/>
          <p:nvPr/>
        </p:nvSpPr>
        <p:spPr>
          <a:xfrm>
            <a:off x="4663440" y="1371600"/>
            <a:ext cx="1920240" cy="201168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8" name="Shape 14"/>
          <p:cNvSpPr/>
          <p:nvPr/>
        </p:nvSpPr>
        <p:spPr>
          <a:xfrm>
            <a:off x="5349240" y="1463040"/>
            <a:ext cx="502920" cy="502920"/>
          </a:xfrm>
          <a:prstGeom prst="ellipse">
            <a:avLst/>
          </a:prstGeom>
          <a:solidFill>
            <a:srgbClr val="2DD4BF"/>
          </a:solidFill>
          <a:ln/>
        </p:spPr>
        <p:txBody>
          <a:bodyPr/>
          <a:lstStyle/>
          <a:p>
            <a:endParaRPr lang="en-US"/>
          </a:p>
        </p:txBody>
      </p:sp>
      <p:sp>
        <p:nvSpPr>
          <p:cNvPr id="19" name="Text 15"/>
          <p:cNvSpPr/>
          <p:nvPr/>
        </p:nvSpPr>
        <p:spPr>
          <a:xfrm>
            <a:off x="5349240" y="1463040"/>
            <a:ext cx="502920" cy="502920"/>
          </a:xfrm>
          <a:prstGeom prst="rect">
            <a:avLst/>
          </a:prstGeom>
          <a:noFill/>
          <a:ln/>
        </p:spPr>
        <p:txBody>
          <a:bodyPr wrap="square" lIns="0" tIns="0" rIns="0" bIns="0" rtlCol="0" anchor="ctr"/>
          <a:lstStyle/>
          <a:p>
            <a:pPr marL="0" indent="0" algn="ctr">
              <a:buNone/>
            </a:pPr>
            <a:r>
              <a:rPr lang="en-US" sz="2000" b="1" dirty="0">
                <a:solidFill>
                  <a:srgbClr val="1E1E2E"/>
                </a:solidFill>
                <a:latin typeface="Trebuchet MS" pitchFamily="34" charset="0"/>
                <a:ea typeface="Trebuchet MS" pitchFamily="34" charset="-122"/>
                <a:cs typeface="Trebuchet MS" pitchFamily="34" charset="-120"/>
              </a:rPr>
              <a:t>3</a:t>
            </a:r>
            <a:endParaRPr lang="en-US" sz="2000" dirty="0"/>
          </a:p>
        </p:txBody>
      </p:sp>
      <p:sp>
        <p:nvSpPr>
          <p:cNvPr id="20" name="Text 16"/>
          <p:cNvSpPr/>
          <p:nvPr/>
        </p:nvSpPr>
        <p:spPr>
          <a:xfrm>
            <a:off x="4754880" y="2057400"/>
            <a:ext cx="173736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Send Traffic</a:t>
            </a:r>
            <a:endParaRPr lang="en-US" sz="1400" dirty="0"/>
          </a:p>
        </p:txBody>
      </p:sp>
      <p:sp>
        <p:nvSpPr>
          <p:cNvPr id="21" name="Text 17"/>
          <p:cNvSpPr/>
          <p:nvPr/>
        </p:nvSpPr>
        <p:spPr>
          <a:xfrm>
            <a:off x="4754880" y="2423160"/>
            <a:ext cx="1737360" cy="777240"/>
          </a:xfrm>
          <a:prstGeom prst="rect">
            <a:avLst/>
          </a:prstGeom>
          <a:noFill/>
          <a:ln/>
        </p:spPr>
        <p:txBody>
          <a:bodyPr wrap="square" lIns="0" tIns="0" rIns="0" bIns="0" rtlCol="0" anchor="ctr"/>
          <a:lstStyle/>
          <a:p>
            <a:pPr marL="0" indent="0" algn="ctr">
              <a:buNone/>
            </a:pPr>
            <a:r>
              <a:rPr lang="en-US" sz="1100" dirty="0">
                <a:solidFill>
                  <a:srgbClr val="A1A1AA"/>
                </a:solidFill>
                <a:latin typeface="Calibri" pitchFamily="34" charset="0"/>
                <a:ea typeface="Calibri" pitchFamily="34" charset="-122"/>
                <a:cs typeface="Calibri" pitchFamily="34" charset="-120"/>
              </a:rPr>
              <a:t>Run victim.py via</a:t>
            </a:r>
            <a:endParaRPr lang="en-US" sz="1100" dirty="0"/>
          </a:p>
          <a:p>
            <a:pPr marL="0" indent="0" algn="ctr">
              <a:buNone/>
            </a:pPr>
            <a:r>
              <a:rPr lang="en-US" sz="1100" dirty="0">
                <a:solidFill>
                  <a:srgbClr val="A1A1AA"/>
                </a:solidFill>
                <a:latin typeface="Calibri" pitchFamily="34" charset="0"/>
                <a:ea typeface="Calibri" pitchFamily="34" charset="-122"/>
                <a:cs typeface="Calibri" pitchFamily="34" charset="-120"/>
              </a:rPr>
              <a:t>SOCKS5 proxy with</a:t>
            </a:r>
            <a:endParaRPr lang="en-US" sz="1100" dirty="0"/>
          </a:p>
          <a:p>
            <a:pPr marL="0" indent="0" algn="ctr">
              <a:buNone/>
            </a:pPr>
            <a:r>
              <a:rPr lang="en-US" sz="1100" dirty="0">
                <a:solidFill>
                  <a:srgbClr val="A1A1AA"/>
                </a:solidFill>
                <a:latin typeface="Calibri" pitchFamily="34" charset="0"/>
                <a:ea typeface="Calibri" pitchFamily="34" charset="-122"/>
                <a:cs typeface="Calibri" pitchFamily="34" charset="-120"/>
              </a:rPr>
              <a:t>HTTP POST credentials</a:t>
            </a:r>
            <a:endParaRPr lang="en-US" sz="1100" dirty="0"/>
          </a:p>
        </p:txBody>
      </p:sp>
      <p:pic>
        <p:nvPicPr>
          <p:cNvPr id="22" name="Image 2" descr="preencoded.png"/>
          <p:cNvPicPr>
            <a:picLocks noChangeAspect="1"/>
          </p:cNvPicPr>
          <p:nvPr/>
        </p:nvPicPr>
        <p:blipFill>
          <a:blip r:embed="rId3"/>
          <a:stretch>
            <a:fillRect/>
          </a:stretch>
        </p:blipFill>
        <p:spPr>
          <a:xfrm>
            <a:off x="6577965" y="2103120"/>
            <a:ext cx="320040" cy="320040"/>
          </a:xfrm>
          <a:prstGeom prst="rect">
            <a:avLst/>
          </a:prstGeom>
        </p:spPr>
      </p:pic>
      <p:sp>
        <p:nvSpPr>
          <p:cNvPr id="23" name="Shape 18"/>
          <p:cNvSpPr/>
          <p:nvPr/>
        </p:nvSpPr>
        <p:spPr>
          <a:xfrm>
            <a:off x="6858000" y="1371600"/>
            <a:ext cx="1920240" cy="201168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24" name="Shape 19"/>
          <p:cNvSpPr/>
          <p:nvPr/>
        </p:nvSpPr>
        <p:spPr>
          <a:xfrm>
            <a:off x="7543800" y="1463040"/>
            <a:ext cx="502920" cy="502920"/>
          </a:xfrm>
          <a:prstGeom prst="ellipse">
            <a:avLst/>
          </a:prstGeom>
          <a:solidFill>
            <a:srgbClr val="2DD4BF"/>
          </a:solidFill>
          <a:ln/>
        </p:spPr>
        <p:txBody>
          <a:bodyPr/>
          <a:lstStyle/>
          <a:p>
            <a:endParaRPr lang="en-US"/>
          </a:p>
        </p:txBody>
      </p:sp>
      <p:sp>
        <p:nvSpPr>
          <p:cNvPr id="25" name="Text 20"/>
          <p:cNvSpPr/>
          <p:nvPr/>
        </p:nvSpPr>
        <p:spPr>
          <a:xfrm>
            <a:off x="7543800" y="1463040"/>
            <a:ext cx="502920" cy="502920"/>
          </a:xfrm>
          <a:prstGeom prst="rect">
            <a:avLst/>
          </a:prstGeom>
          <a:noFill/>
          <a:ln/>
        </p:spPr>
        <p:txBody>
          <a:bodyPr wrap="square" lIns="0" tIns="0" rIns="0" bIns="0" rtlCol="0" anchor="ctr"/>
          <a:lstStyle/>
          <a:p>
            <a:pPr marL="0" indent="0" algn="ctr">
              <a:buNone/>
            </a:pPr>
            <a:r>
              <a:rPr lang="en-US" sz="2000" b="1" dirty="0">
                <a:solidFill>
                  <a:srgbClr val="1E1E2E"/>
                </a:solidFill>
                <a:latin typeface="Trebuchet MS" pitchFamily="34" charset="0"/>
                <a:ea typeface="Trebuchet MS" pitchFamily="34" charset="-122"/>
                <a:cs typeface="Trebuchet MS" pitchFamily="34" charset="-120"/>
              </a:rPr>
              <a:t>4</a:t>
            </a:r>
            <a:endParaRPr lang="en-US" sz="2000" dirty="0"/>
          </a:p>
        </p:txBody>
      </p:sp>
      <p:sp>
        <p:nvSpPr>
          <p:cNvPr id="26" name="Text 21"/>
          <p:cNvSpPr/>
          <p:nvPr/>
        </p:nvSpPr>
        <p:spPr>
          <a:xfrm>
            <a:off x="6949440" y="2057400"/>
            <a:ext cx="173736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Exfiltrate</a:t>
            </a:r>
            <a:endParaRPr lang="en-US" sz="1400" dirty="0"/>
          </a:p>
        </p:txBody>
      </p:sp>
      <p:sp>
        <p:nvSpPr>
          <p:cNvPr id="27" name="Text 22"/>
          <p:cNvSpPr/>
          <p:nvPr/>
        </p:nvSpPr>
        <p:spPr>
          <a:xfrm>
            <a:off x="6949440" y="2423160"/>
            <a:ext cx="1737360" cy="777240"/>
          </a:xfrm>
          <a:prstGeom prst="rect">
            <a:avLst/>
          </a:prstGeom>
          <a:noFill/>
          <a:ln/>
        </p:spPr>
        <p:txBody>
          <a:bodyPr wrap="square" lIns="0" tIns="0" rIns="0" bIns="0" rtlCol="0" anchor="ctr"/>
          <a:lstStyle/>
          <a:p>
            <a:pPr marL="0" indent="0" algn="ctr">
              <a:buNone/>
            </a:pPr>
            <a:r>
              <a:rPr lang="en-US" sz="1100" dirty="0">
                <a:solidFill>
                  <a:srgbClr val="A1A1AA"/>
                </a:solidFill>
                <a:latin typeface="Calibri" pitchFamily="34" charset="0"/>
                <a:ea typeface="Calibri" pitchFamily="34" charset="-122"/>
                <a:cs typeface="Calibri" pitchFamily="34" charset="-120"/>
              </a:rPr>
              <a:t>Capture packet at</a:t>
            </a:r>
            <a:endParaRPr lang="en-US" sz="1100" dirty="0"/>
          </a:p>
          <a:p>
            <a:pPr marL="0" indent="0" algn="ctr">
              <a:buNone/>
            </a:pPr>
            <a:r>
              <a:rPr lang="en-US" sz="1100" dirty="0">
                <a:solidFill>
                  <a:srgbClr val="A1A1AA"/>
                </a:solidFill>
                <a:latin typeface="Calibri" pitchFamily="34" charset="0"/>
                <a:ea typeface="Calibri" pitchFamily="34" charset="-122"/>
                <a:cs typeface="Calibri" pitchFamily="34" charset="-120"/>
              </a:rPr>
              <a:t>exit node, decode</a:t>
            </a:r>
            <a:endParaRPr lang="en-US" sz="1100" dirty="0"/>
          </a:p>
          <a:p>
            <a:pPr marL="0" indent="0" algn="ctr">
              <a:buNone/>
            </a:pPr>
            <a:r>
              <a:rPr lang="en-US" sz="1100" dirty="0">
                <a:solidFill>
                  <a:srgbClr val="A1A1AA"/>
                </a:solidFill>
                <a:latin typeface="Calibri" pitchFamily="34" charset="0"/>
                <a:ea typeface="Calibri" pitchFamily="34" charset="-122"/>
                <a:cs typeface="Calibri" pitchFamily="34" charset="-120"/>
              </a:rPr>
              <a:t>credential payload</a:t>
            </a:r>
            <a:endParaRPr lang="en-US" sz="1100" dirty="0"/>
          </a:p>
        </p:txBody>
      </p:sp>
      <p:sp>
        <p:nvSpPr>
          <p:cNvPr id="28" name="Shape 23"/>
          <p:cNvSpPr/>
          <p:nvPr/>
        </p:nvSpPr>
        <p:spPr>
          <a:xfrm>
            <a:off x="548640" y="3657600"/>
            <a:ext cx="8046720" cy="114300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30" name="Text 24"/>
          <p:cNvSpPr/>
          <p:nvPr/>
        </p:nvSpPr>
        <p:spPr>
          <a:xfrm>
            <a:off x="640080" y="4343400"/>
            <a:ext cx="1005840" cy="274320"/>
          </a:xfrm>
          <a:prstGeom prst="rect">
            <a:avLst/>
          </a:prstGeom>
          <a:noFill/>
          <a:ln/>
        </p:spPr>
        <p:txBody>
          <a:bodyPr wrap="square" lIns="0" tIns="0" rIns="0" bIns="0" rtlCol="0" anchor="ctr"/>
          <a:lstStyle/>
          <a:p>
            <a:pPr marL="0" indent="0" algn="ctr">
              <a:buNone/>
            </a:pPr>
            <a:r>
              <a:rPr lang="en-US" sz="1000" dirty="0">
                <a:solidFill>
                  <a:srgbClr val="A1A1AA"/>
                </a:solidFill>
                <a:latin typeface="Calibri" pitchFamily="34" charset="0"/>
                <a:ea typeface="Calibri" pitchFamily="34" charset="-122"/>
                <a:cs typeface="Calibri" pitchFamily="34" charset="-120"/>
              </a:rPr>
              <a:t>Victim</a:t>
            </a:r>
            <a:endParaRPr lang="en-US" sz="1000" dirty="0"/>
          </a:p>
        </p:txBody>
      </p:sp>
      <p:sp>
        <p:nvSpPr>
          <p:cNvPr id="31" name="Shape 25"/>
          <p:cNvSpPr/>
          <p:nvPr/>
        </p:nvSpPr>
        <p:spPr>
          <a:xfrm>
            <a:off x="1554480" y="4114800"/>
            <a:ext cx="1097280" cy="0"/>
          </a:xfrm>
          <a:prstGeom prst="line">
            <a:avLst/>
          </a:prstGeom>
          <a:noFill/>
          <a:ln w="25400">
            <a:solidFill>
              <a:srgbClr val="EF4444"/>
            </a:solidFill>
            <a:prstDash val="solid"/>
          </a:ln>
        </p:spPr>
        <p:txBody>
          <a:bodyPr/>
          <a:lstStyle/>
          <a:p>
            <a:endParaRPr lang="en-US"/>
          </a:p>
        </p:txBody>
      </p:sp>
      <p:sp>
        <p:nvSpPr>
          <p:cNvPr id="32" name="Text 26"/>
          <p:cNvSpPr/>
          <p:nvPr/>
        </p:nvSpPr>
        <p:spPr>
          <a:xfrm>
            <a:off x="1737360" y="3794760"/>
            <a:ext cx="731520" cy="274320"/>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HTTP</a:t>
            </a:r>
            <a:endParaRPr lang="en-US" sz="900" dirty="0"/>
          </a:p>
        </p:txBody>
      </p:sp>
      <p:sp>
        <p:nvSpPr>
          <p:cNvPr id="34" name="Text 27"/>
          <p:cNvSpPr/>
          <p:nvPr/>
        </p:nvSpPr>
        <p:spPr>
          <a:xfrm>
            <a:off x="2468880" y="4343400"/>
            <a:ext cx="1554480" cy="365760"/>
          </a:xfrm>
          <a:prstGeom prst="rect">
            <a:avLst/>
          </a:prstGeom>
          <a:noFill/>
          <a:ln/>
        </p:spPr>
        <p:txBody>
          <a:bodyPr wrap="square" lIns="0" tIns="0" rIns="0" bIns="0" rtlCol="0" anchor="ctr"/>
          <a:lstStyle/>
          <a:p>
            <a:pPr marL="0" indent="0" algn="ctr">
              <a:buNone/>
            </a:pPr>
            <a:r>
              <a:rPr lang="en-US" sz="900" dirty="0">
                <a:solidFill>
                  <a:srgbClr val="A1A1AA"/>
                </a:solidFill>
                <a:latin typeface="Calibri" pitchFamily="34" charset="0"/>
                <a:ea typeface="Calibri" pitchFamily="34" charset="-122"/>
                <a:cs typeface="Calibri" pitchFamily="34" charset="-120"/>
              </a:rPr>
              <a:t>Docker</a:t>
            </a:r>
            <a:endParaRPr lang="en-US" sz="900" dirty="0"/>
          </a:p>
          <a:p>
            <a:pPr marL="0" indent="0" algn="ctr">
              <a:buNone/>
            </a:pPr>
            <a:r>
              <a:rPr lang="en-US" sz="900" dirty="0">
                <a:solidFill>
                  <a:srgbClr val="A1A1AA"/>
                </a:solidFill>
                <a:latin typeface="Calibri" pitchFamily="34" charset="0"/>
                <a:ea typeface="Calibri" pitchFamily="34" charset="-122"/>
                <a:cs typeface="Calibri" pitchFamily="34" charset="-120"/>
              </a:rPr>
              <a:t>(Exit Node + Sniffer)</a:t>
            </a:r>
            <a:endParaRPr lang="en-US" sz="900" dirty="0"/>
          </a:p>
        </p:txBody>
      </p:sp>
      <p:sp>
        <p:nvSpPr>
          <p:cNvPr id="35" name="Shape 28"/>
          <p:cNvSpPr/>
          <p:nvPr/>
        </p:nvSpPr>
        <p:spPr>
          <a:xfrm>
            <a:off x="3749040" y="4114800"/>
            <a:ext cx="1097280" cy="0"/>
          </a:xfrm>
          <a:prstGeom prst="line">
            <a:avLst/>
          </a:prstGeom>
          <a:noFill/>
          <a:ln w="25400">
            <a:solidFill>
              <a:srgbClr val="EF4444"/>
            </a:solidFill>
            <a:prstDash val="solid"/>
          </a:ln>
        </p:spPr>
        <p:txBody>
          <a:bodyPr/>
          <a:lstStyle/>
          <a:p>
            <a:endParaRPr lang="en-US"/>
          </a:p>
        </p:txBody>
      </p:sp>
      <p:sp>
        <p:nvSpPr>
          <p:cNvPr id="37" name="Text 29"/>
          <p:cNvSpPr/>
          <p:nvPr/>
        </p:nvSpPr>
        <p:spPr>
          <a:xfrm>
            <a:off x="4754880" y="4343400"/>
            <a:ext cx="1188720" cy="274320"/>
          </a:xfrm>
          <a:prstGeom prst="rect">
            <a:avLst/>
          </a:prstGeom>
          <a:noFill/>
          <a:ln/>
        </p:spPr>
        <p:txBody>
          <a:bodyPr wrap="square" lIns="0" tIns="0" rIns="0" bIns="0" rtlCol="0" anchor="ctr"/>
          <a:lstStyle/>
          <a:p>
            <a:pPr marL="0" indent="0" algn="ctr">
              <a:buNone/>
            </a:pPr>
            <a:r>
              <a:rPr lang="en-US" sz="1000" dirty="0">
                <a:solidFill>
                  <a:srgbClr val="A1A1AA"/>
                </a:solidFill>
                <a:latin typeface="Calibri" pitchFamily="34" charset="0"/>
                <a:ea typeface="Calibri" pitchFamily="34" charset="-122"/>
                <a:cs typeface="Calibri" pitchFamily="34" charset="-120"/>
              </a:rPr>
              <a:t>httpbin.org</a:t>
            </a:r>
            <a:endParaRPr lang="en-US" sz="1000" dirty="0"/>
          </a:p>
        </p:txBody>
      </p:sp>
      <p:sp>
        <p:nvSpPr>
          <p:cNvPr id="38" name="Shape 30"/>
          <p:cNvSpPr/>
          <p:nvPr/>
        </p:nvSpPr>
        <p:spPr>
          <a:xfrm>
            <a:off x="6400800" y="3840480"/>
            <a:ext cx="2011680" cy="594360"/>
          </a:xfrm>
          <a:prstGeom prst="rect">
            <a:avLst/>
          </a:prstGeom>
          <a:solidFill>
            <a:srgbClr val="3A1515"/>
          </a:solidFill>
          <a:ln/>
        </p:spPr>
        <p:txBody>
          <a:bodyPr/>
          <a:lstStyle/>
          <a:p>
            <a:endParaRPr lang="en-US"/>
          </a:p>
        </p:txBody>
      </p:sp>
      <p:sp>
        <p:nvSpPr>
          <p:cNvPr id="40" name="Text 31"/>
          <p:cNvSpPr/>
          <p:nvPr/>
        </p:nvSpPr>
        <p:spPr>
          <a:xfrm>
            <a:off x="6903720" y="3840480"/>
            <a:ext cx="1463040" cy="594360"/>
          </a:xfrm>
          <a:prstGeom prst="rect">
            <a:avLst/>
          </a:prstGeom>
          <a:noFill/>
          <a:ln/>
        </p:spPr>
        <p:txBody>
          <a:bodyPr wrap="square" lIns="0" tIns="0" rIns="0" bIns="0" rtlCol="0" anchor="ctr"/>
          <a:lstStyle/>
          <a:p>
            <a:pPr marL="0" indent="0">
              <a:buNone/>
            </a:pPr>
            <a:r>
              <a:rPr lang="en-US" sz="1100" dirty="0">
                <a:solidFill>
                  <a:srgbClr val="FCA5A5"/>
                </a:solidFill>
                <a:latin typeface="Calibri" pitchFamily="34" charset="0"/>
                <a:ea typeface="Calibri" pitchFamily="34" charset="-122"/>
                <a:cs typeface="Calibri" pitchFamily="34" charset="-120"/>
              </a:rPr>
              <a:t>Sniffer intercepts</a:t>
            </a:r>
            <a:endParaRPr lang="en-US" sz="1100" dirty="0"/>
          </a:p>
          <a:p>
            <a:pPr marL="0" indent="0">
              <a:buNone/>
            </a:pPr>
            <a:r>
              <a:rPr lang="en-US" sz="1100" dirty="0">
                <a:solidFill>
                  <a:srgbClr val="FCA5A5"/>
                </a:solidFill>
                <a:latin typeface="Calibri" pitchFamily="34" charset="0"/>
                <a:ea typeface="Calibri" pitchFamily="34" charset="-122"/>
                <a:cs typeface="Calibri" pitchFamily="34" charset="-120"/>
              </a:rPr>
              <a:t>at exit node</a:t>
            </a:r>
            <a:endParaRPr lang="en-US" sz="1100" dirty="0"/>
          </a:p>
        </p:txBody>
      </p:sp>
      <p:pic>
        <p:nvPicPr>
          <p:cNvPr id="41" name="Image 3" descr="preencoded.png">
            <a:extLst>
              <a:ext uri="{FF2B5EF4-FFF2-40B4-BE49-F238E27FC236}">
                <a16:creationId xmlns:a16="http://schemas.microsoft.com/office/drawing/2014/main" id="{14D8B754-A18A-70D5-E648-FB3761647803}"/>
              </a:ext>
            </a:extLst>
          </p:cNvPr>
          <p:cNvPicPr>
            <a:picLocks noChangeAspect="1"/>
          </p:cNvPicPr>
          <p:nvPr/>
        </p:nvPicPr>
        <p:blipFill>
          <a:blip r:embed="rId4"/>
          <a:stretch>
            <a:fillRect/>
          </a:stretch>
        </p:blipFill>
        <p:spPr>
          <a:xfrm>
            <a:off x="962025" y="3921442"/>
            <a:ext cx="457200" cy="457200"/>
          </a:xfrm>
          <a:prstGeom prst="rect">
            <a:avLst/>
          </a:prstGeom>
        </p:spPr>
      </p:pic>
      <p:pic>
        <p:nvPicPr>
          <p:cNvPr id="42" name="Image 4" descr="preencoded.png">
            <a:extLst>
              <a:ext uri="{FF2B5EF4-FFF2-40B4-BE49-F238E27FC236}">
                <a16:creationId xmlns:a16="http://schemas.microsoft.com/office/drawing/2014/main" id="{7D7561FD-8C14-7B61-5D15-FD686FE5421C}"/>
              </a:ext>
            </a:extLst>
          </p:cNvPr>
          <p:cNvPicPr>
            <a:picLocks noChangeAspect="1"/>
          </p:cNvPicPr>
          <p:nvPr/>
        </p:nvPicPr>
        <p:blipFill>
          <a:blip r:embed="rId5"/>
          <a:stretch>
            <a:fillRect/>
          </a:stretch>
        </p:blipFill>
        <p:spPr>
          <a:xfrm>
            <a:off x="2926080" y="3823335"/>
            <a:ext cx="548640" cy="548640"/>
          </a:xfrm>
          <a:prstGeom prst="rect">
            <a:avLst/>
          </a:prstGeom>
        </p:spPr>
      </p:pic>
      <p:pic>
        <p:nvPicPr>
          <p:cNvPr id="43" name="Image 5" descr="preencoded.png">
            <a:extLst>
              <a:ext uri="{FF2B5EF4-FFF2-40B4-BE49-F238E27FC236}">
                <a16:creationId xmlns:a16="http://schemas.microsoft.com/office/drawing/2014/main" id="{5B911720-02F0-1480-7DC4-2D4DCEB3D014}"/>
              </a:ext>
            </a:extLst>
          </p:cNvPr>
          <p:cNvPicPr>
            <a:picLocks noChangeAspect="1"/>
          </p:cNvPicPr>
          <p:nvPr/>
        </p:nvPicPr>
        <p:blipFill>
          <a:blip r:embed="rId6"/>
          <a:stretch>
            <a:fillRect/>
          </a:stretch>
        </p:blipFill>
        <p:spPr>
          <a:xfrm>
            <a:off x="4975860" y="3886200"/>
            <a:ext cx="457200" cy="457200"/>
          </a:xfrm>
          <a:prstGeom prst="rect">
            <a:avLst/>
          </a:prstGeom>
        </p:spPr>
      </p:pic>
      <p:pic>
        <p:nvPicPr>
          <p:cNvPr id="45" name="Image 6" descr="preencoded.png">
            <a:extLst>
              <a:ext uri="{FF2B5EF4-FFF2-40B4-BE49-F238E27FC236}">
                <a16:creationId xmlns:a16="http://schemas.microsoft.com/office/drawing/2014/main" id="{F1B9E04D-2237-4E36-27D3-426C51393841}"/>
              </a:ext>
            </a:extLst>
          </p:cNvPr>
          <p:cNvPicPr>
            <a:picLocks noChangeAspect="1"/>
          </p:cNvPicPr>
          <p:nvPr/>
        </p:nvPicPr>
        <p:blipFill>
          <a:blip r:embed="rId7"/>
          <a:stretch>
            <a:fillRect/>
          </a:stretch>
        </p:blipFill>
        <p:spPr>
          <a:xfrm>
            <a:off x="6492240" y="3931920"/>
            <a:ext cx="320040" cy="320040"/>
          </a:xfrm>
          <a:prstGeom prst="rect">
            <a:avLst/>
          </a:prstGeom>
        </p:spPr>
      </p:pic>
      <p:sp>
        <p:nvSpPr>
          <p:cNvPr id="46" name="Text 29">
            <a:extLst>
              <a:ext uri="{FF2B5EF4-FFF2-40B4-BE49-F238E27FC236}">
                <a16:creationId xmlns:a16="http://schemas.microsoft.com/office/drawing/2014/main" id="{FF36AE5F-668D-3582-58A8-B4D54FBCABBB}"/>
              </a:ext>
            </a:extLst>
          </p:cNvPr>
          <p:cNvSpPr/>
          <p:nvPr/>
        </p:nvSpPr>
        <p:spPr>
          <a:xfrm>
            <a:off x="3840480" y="3794760"/>
            <a:ext cx="914400" cy="274320"/>
          </a:xfrm>
          <a:prstGeom prst="rect">
            <a:avLst/>
          </a:prstGeom>
          <a:noFill/>
          <a:ln/>
        </p:spPr>
        <p:txBody>
          <a:bodyPr wrap="square" lIns="0" tIns="0" rIns="0" bIns="0" rtlCol="0" anchor="ctr"/>
          <a:lstStyle/>
          <a:p>
            <a:pPr marL="0" indent="0" algn="ctr">
              <a:buNone/>
            </a:pPr>
            <a:r>
              <a:rPr lang="en-US" sz="900" dirty="0">
                <a:solidFill>
                  <a:srgbClr val="EF4444"/>
                </a:solidFill>
                <a:latin typeface="Calibri" pitchFamily="34" charset="0"/>
                <a:ea typeface="Calibri" pitchFamily="34" charset="-122"/>
                <a:cs typeface="Calibri" pitchFamily="34" charset="-120"/>
              </a:rPr>
              <a:t>Plaintext</a:t>
            </a:r>
            <a:endParaRPr lang="en-US" sz="900" dirty="0"/>
          </a:p>
        </p:txBody>
      </p:sp>
    </p:spTree>
    <p:extLst>
      <p:ext uri="{BB962C8B-B14F-4D97-AF65-F5344CB8AC3E}">
        <p14:creationId xmlns:p14="http://schemas.microsoft.com/office/powerpoint/2010/main" val="2618902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Results — HTTP Traffic Interception</a:t>
            </a:r>
            <a:endParaRPr lang="en-US" sz="3000" dirty="0"/>
          </a:p>
        </p:txBody>
      </p:sp>
      <p:sp>
        <p:nvSpPr>
          <p:cNvPr id="5" name="Shape 3"/>
          <p:cNvSpPr/>
          <p:nvPr/>
        </p:nvSpPr>
        <p:spPr>
          <a:xfrm>
            <a:off x="548640" y="1325880"/>
            <a:ext cx="8046720" cy="914400"/>
          </a:xfrm>
          <a:prstGeom prst="rect">
            <a:avLst/>
          </a:prstGeom>
          <a:solidFill>
            <a:srgbClr val="3A1515"/>
          </a:solidFill>
          <a:ln/>
          <a:effectLst>
            <a:outerShdw blurRad="50800" dist="25400" dir="8100000" algn="bl" rotWithShape="0">
              <a:srgbClr val="000000">
                <a:alpha val="2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77240" y="1463040"/>
            <a:ext cx="457200" cy="457200"/>
          </a:xfrm>
          <a:prstGeom prst="rect">
            <a:avLst/>
          </a:prstGeom>
        </p:spPr>
      </p:pic>
      <p:sp>
        <p:nvSpPr>
          <p:cNvPr id="7" name="Text 4"/>
          <p:cNvSpPr/>
          <p:nvPr/>
        </p:nvSpPr>
        <p:spPr>
          <a:xfrm>
            <a:off x="1371600" y="1325880"/>
            <a:ext cx="7040880" cy="914400"/>
          </a:xfrm>
          <a:prstGeom prst="rect">
            <a:avLst/>
          </a:prstGeom>
          <a:noFill/>
          <a:ln/>
        </p:spPr>
        <p:txBody>
          <a:bodyPr wrap="square" lIns="0" tIns="0" rIns="0" bIns="0" rtlCol="0" anchor="ctr"/>
          <a:lstStyle/>
          <a:p>
            <a:pPr marL="0" indent="0">
              <a:buNone/>
            </a:pPr>
            <a:r>
              <a:rPr lang="en-US" sz="1600" b="1" dirty="0">
                <a:solidFill>
                  <a:srgbClr val="FCA5A5"/>
                </a:solidFill>
                <a:latin typeface="Trebuchet MS" pitchFamily="34" charset="0"/>
                <a:ea typeface="Trebuchet MS" pitchFamily="34" charset="-122"/>
                <a:cs typeface="Trebuchet MS" pitchFamily="34" charset="-120"/>
              </a:rPr>
              <a:t>Plaintext credentials successfully intercepted at the malicious exit node</a:t>
            </a:r>
            <a:endParaRPr lang="en-US" sz="1600" dirty="0"/>
          </a:p>
        </p:txBody>
      </p:sp>
      <p:sp>
        <p:nvSpPr>
          <p:cNvPr id="8" name="Shape 5"/>
          <p:cNvSpPr/>
          <p:nvPr/>
        </p:nvSpPr>
        <p:spPr>
          <a:xfrm>
            <a:off x="548640" y="2468880"/>
            <a:ext cx="8046720" cy="2286000"/>
          </a:xfrm>
          <a:prstGeom prst="rect">
            <a:avLst/>
          </a:prstGeom>
          <a:solidFill>
            <a:srgbClr val="0D0D0D"/>
          </a:solidFill>
          <a:ln/>
          <a:effectLst>
            <a:outerShdw blurRad="50800" dist="25400" dir="8100000" algn="bl" rotWithShape="0">
              <a:srgbClr val="000000">
                <a:alpha val="20000"/>
              </a:srgbClr>
            </a:outerShdw>
          </a:effectLst>
        </p:spPr>
        <p:txBody>
          <a:bodyPr/>
          <a:lstStyle/>
          <a:p>
            <a:endParaRPr lang="en-US"/>
          </a:p>
        </p:txBody>
      </p:sp>
      <p:sp>
        <p:nvSpPr>
          <p:cNvPr id="9" name="Text 6"/>
          <p:cNvSpPr/>
          <p:nvPr/>
        </p:nvSpPr>
        <p:spPr>
          <a:xfrm>
            <a:off x="822960" y="2560320"/>
            <a:ext cx="7498080" cy="246888"/>
          </a:xfrm>
          <a:prstGeom prst="rect">
            <a:avLst/>
          </a:prstGeom>
          <a:noFill/>
          <a:ln/>
        </p:spPr>
        <p:txBody>
          <a:bodyPr wrap="square" lIns="0" tIns="0" rIns="0" bIns="0" rtlCol="0" anchor="ctr"/>
          <a:lstStyle/>
          <a:p>
            <a:pPr marL="0" indent="0">
              <a:buNone/>
            </a:pPr>
            <a:r>
              <a:rPr lang="en-US" sz="1100" dirty="0">
                <a:solidFill>
                  <a:srgbClr val="22C55E"/>
                </a:solidFill>
                <a:latin typeface="Consolas" pitchFamily="34" charset="0"/>
                <a:ea typeface="Consolas" pitchFamily="34" charset="-122"/>
                <a:cs typeface="Consolas" pitchFamily="34" charset="-120"/>
              </a:rPr>
              <a:t>root@container:/# python3 attacker.py</a:t>
            </a:r>
            <a:endParaRPr lang="en-US" sz="1100" dirty="0"/>
          </a:p>
        </p:txBody>
      </p:sp>
      <p:sp>
        <p:nvSpPr>
          <p:cNvPr id="10" name="Text 7"/>
          <p:cNvSpPr/>
          <p:nvPr/>
        </p:nvSpPr>
        <p:spPr>
          <a:xfrm>
            <a:off x="822960" y="2807208"/>
            <a:ext cx="7498080" cy="246888"/>
          </a:xfrm>
          <a:prstGeom prst="rect">
            <a:avLst/>
          </a:prstGeom>
          <a:noFill/>
          <a:ln/>
        </p:spPr>
        <p:txBody>
          <a:bodyPr wrap="square" lIns="0" tIns="0" rIns="0" bIns="0" rtlCol="0" anchor="ctr"/>
          <a:lstStyle/>
          <a:p>
            <a:pPr marL="0" indent="0">
              <a:buNone/>
            </a:pPr>
            <a:r>
              <a:rPr lang="en-US" sz="1100" dirty="0">
                <a:solidFill>
                  <a:srgbClr val="A1A1AA"/>
                </a:solidFill>
                <a:latin typeface="Consolas" pitchFamily="34" charset="0"/>
                <a:ea typeface="Consolas" pitchFamily="34" charset="-122"/>
                <a:cs typeface="Consolas" pitchFamily="34" charset="-120"/>
              </a:rPr>
              <a:t>Listening on eth0...</a:t>
            </a:r>
            <a:endParaRPr lang="en-US" sz="1100" dirty="0"/>
          </a:p>
        </p:txBody>
      </p:sp>
      <p:sp>
        <p:nvSpPr>
          <p:cNvPr id="11" name="Text 8"/>
          <p:cNvSpPr/>
          <p:nvPr/>
        </p:nvSpPr>
        <p:spPr>
          <a:xfrm>
            <a:off x="822960" y="3054096"/>
            <a:ext cx="7498080" cy="246888"/>
          </a:xfrm>
          <a:prstGeom prst="rect">
            <a:avLst/>
          </a:prstGeom>
          <a:noFill/>
          <a:ln/>
        </p:spPr>
        <p:txBody>
          <a:bodyPr wrap="square" lIns="0" tIns="0" rIns="0" bIns="0" rtlCol="0" anchor="ctr"/>
          <a:lstStyle/>
          <a:p>
            <a:pPr marL="0" indent="0">
              <a:buNone/>
            </a:pPr>
            <a:endParaRPr lang="en-US" sz="1100" dirty="0"/>
          </a:p>
        </p:txBody>
      </p:sp>
      <p:sp>
        <p:nvSpPr>
          <p:cNvPr id="12" name="Text 9"/>
          <p:cNvSpPr/>
          <p:nvPr/>
        </p:nvSpPr>
        <p:spPr>
          <a:xfrm>
            <a:off x="822960" y="3300984"/>
            <a:ext cx="7498080" cy="246888"/>
          </a:xfrm>
          <a:prstGeom prst="rect">
            <a:avLst/>
          </a:prstGeom>
          <a:noFill/>
          <a:ln/>
        </p:spPr>
        <p:txBody>
          <a:bodyPr wrap="square" lIns="0" tIns="0" rIns="0" bIns="0" rtlCol="0" anchor="ctr"/>
          <a:lstStyle/>
          <a:p>
            <a:pPr marL="0" indent="0">
              <a:buNone/>
            </a:pPr>
            <a:r>
              <a:rPr lang="en-US" sz="1100" dirty="0">
                <a:solidFill>
                  <a:srgbClr val="F59E0B"/>
                </a:solidFill>
                <a:latin typeface="Consolas" pitchFamily="34" charset="0"/>
                <a:ea typeface="Consolas" pitchFamily="34" charset="-122"/>
                <a:cs typeface="Consolas" pitchFamily="34" charset="-120"/>
              </a:rPr>
              <a:t>[+] Credentials detected: post /post http/1.1</a:t>
            </a:r>
            <a:endParaRPr lang="en-US" sz="1100" dirty="0"/>
          </a:p>
        </p:txBody>
      </p:sp>
      <p:sp>
        <p:nvSpPr>
          <p:cNvPr id="13" name="Text 10"/>
          <p:cNvSpPr/>
          <p:nvPr/>
        </p:nvSpPr>
        <p:spPr>
          <a:xfrm>
            <a:off x="822960" y="3547872"/>
            <a:ext cx="7498080" cy="246888"/>
          </a:xfrm>
          <a:prstGeom prst="rect">
            <a:avLst/>
          </a:prstGeom>
          <a:noFill/>
          <a:ln/>
        </p:spPr>
        <p:txBody>
          <a:bodyPr wrap="square" lIns="0" tIns="0" rIns="0" bIns="0" rtlCol="0" anchor="ctr"/>
          <a:lstStyle/>
          <a:p>
            <a:pPr marL="0" indent="0">
              <a:buNone/>
            </a:pPr>
            <a:r>
              <a:rPr lang="en-US" sz="1100" dirty="0">
                <a:solidFill>
                  <a:srgbClr val="A1A1AA"/>
                </a:solidFill>
                <a:latin typeface="Consolas" pitchFamily="34" charset="0"/>
                <a:ea typeface="Consolas" pitchFamily="34" charset="-122"/>
                <a:cs typeface="Consolas" pitchFamily="34" charset="-120"/>
              </a:rPr>
              <a:t>host: httpbin.org</a:t>
            </a:r>
            <a:endParaRPr lang="en-US" sz="1100" dirty="0"/>
          </a:p>
        </p:txBody>
      </p:sp>
      <p:sp>
        <p:nvSpPr>
          <p:cNvPr id="14" name="Text 11"/>
          <p:cNvSpPr/>
          <p:nvPr/>
        </p:nvSpPr>
        <p:spPr>
          <a:xfrm>
            <a:off x="822960" y="3794760"/>
            <a:ext cx="7498080" cy="246888"/>
          </a:xfrm>
          <a:prstGeom prst="rect">
            <a:avLst/>
          </a:prstGeom>
          <a:noFill/>
          <a:ln/>
        </p:spPr>
        <p:txBody>
          <a:bodyPr wrap="square" lIns="0" tIns="0" rIns="0" bIns="0" rtlCol="0" anchor="ctr"/>
          <a:lstStyle/>
          <a:p>
            <a:pPr marL="0" indent="0">
              <a:buNone/>
            </a:pPr>
            <a:r>
              <a:rPr lang="en-US" sz="1100" dirty="0">
                <a:solidFill>
                  <a:srgbClr val="A1A1AA"/>
                </a:solidFill>
                <a:latin typeface="Consolas" pitchFamily="34" charset="0"/>
                <a:ea typeface="Consolas" pitchFamily="34" charset="-122"/>
                <a:cs typeface="Consolas" pitchFamily="34" charset="-120"/>
              </a:rPr>
              <a:t>content-type: application/x-www-form-urlencoded</a:t>
            </a:r>
            <a:endParaRPr lang="en-US" sz="1100" dirty="0"/>
          </a:p>
        </p:txBody>
      </p:sp>
      <p:sp>
        <p:nvSpPr>
          <p:cNvPr id="15" name="Text 12"/>
          <p:cNvSpPr/>
          <p:nvPr/>
        </p:nvSpPr>
        <p:spPr>
          <a:xfrm>
            <a:off x="822960" y="4041648"/>
            <a:ext cx="7498080" cy="246888"/>
          </a:xfrm>
          <a:prstGeom prst="rect">
            <a:avLst/>
          </a:prstGeom>
          <a:noFill/>
          <a:ln/>
        </p:spPr>
        <p:txBody>
          <a:bodyPr wrap="square" lIns="0" tIns="0" rIns="0" bIns="0" rtlCol="0" anchor="ctr"/>
          <a:lstStyle/>
          <a:p>
            <a:pPr marL="0" indent="0">
              <a:buNone/>
            </a:pPr>
            <a:endParaRPr lang="en-US" sz="1100" dirty="0"/>
          </a:p>
        </p:txBody>
      </p:sp>
      <p:sp>
        <p:nvSpPr>
          <p:cNvPr id="16" name="Text 13"/>
          <p:cNvSpPr/>
          <p:nvPr/>
        </p:nvSpPr>
        <p:spPr>
          <a:xfrm>
            <a:off x="822960" y="4288536"/>
            <a:ext cx="7498080" cy="246888"/>
          </a:xfrm>
          <a:prstGeom prst="rect">
            <a:avLst/>
          </a:prstGeom>
          <a:noFill/>
          <a:ln/>
        </p:spPr>
        <p:txBody>
          <a:bodyPr wrap="square" lIns="0" tIns="0" rIns="0" bIns="0" rtlCol="0" anchor="ctr"/>
          <a:lstStyle/>
          <a:p>
            <a:pPr marL="0" indent="0">
              <a:buNone/>
            </a:pPr>
            <a:r>
              <a:rPr lang="en-US" sz="1100" dirty="0">
                <a:solidFill>
                  <a:srgbClr val="EF4444"/>
                </a:solidFill>
                <a:latin typeface="Consolas" pitchFamily="34" charset="0"/>
                <a:ea typeface="Consolas" pitchFamily="34" charset="-122"/>
                <a:cs typeface="Consolas" pitchFamily="34" charset="-120"/>
              </a:rPr>
              <a:t>username=admin&amp;password=password1234</a:t>
            </a:r>
            <a:endParaRPr lang="en-US" sz="1100" dirty="0"/>
          </a:p>
        </p:txBody>
      </p:sp>
    </p:spTree>
    <p:extLst>
      <p:ext uri="{BB962C8B-B14F-4D97-AF65-F5344CB8AC3E}">
        <p14:creationId xmlns:p14="http://schemas.microsoft.com/office/powerpoint/2010/main" val="780858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Results — HTTPS Comparison</a:t>
            </a:r>
            <a:endParaRPr lang="en-US" sz="3000" dirty="0"/>
          </a:p>
        </p:txBody>
      </p:sp>
      <p:sp>
        <p:nvSpPr>
          <p:cNvPr id="5" name="Shape 3"/>
          <p:cNvSpPr/>
          <p:nvPr/>
        </p:nvSpPr>
        <p:spPr>
          <a:xfrm>
            <a:off x="548640" y="1325880"/>
            <a:ext cx="8046720" cy="914400"/>
          </a:xfrm>
          <a:prstGeom prst="rect">
            <a:avLst/>
          </a:prstGeom>
          <a:solidFill>
            <a:srgbClr val="1A3A1A"/>
          </a:solidFill>
          <a:ln/>
          <a:effectLst>
            <a:outerShdw blurRad="50800" dist="25400" dir="8100000" algn="bl" rotWithShape="0">
              <a:srgbClr val="000000">
                <a:alpha val="2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777240" y="1463040"/>
            <a:ext cx="457200" cy="457200"/>
          </a:xfrm>
          <a:prstGeom prst="rect">
            <a:avLst/>
          </a:prstGeom>
        </p:spPr>
      </p:pic>
      <p:sp>
        <p:nvSpPr>
          <p:cNvPr id="7" name="Text 4"/>
          <p:cNvSpPr/>
          <p:nvPr/>
        </p:nvSpPr>
        <p:spPr>
          <a:xfrm>
            <a:off x="1371600" y="1325880"/>
            <a:ext cx="7040880" cy="914400"/>
          </a:xfrm>
          <a:prstGeom prst="rect">
            <a:avLst/>
          </a:prstGeom>
          <a:noFill/>
          <a:ln/>
        </p:spPr>
        <p:txBody>
          <a:bodyPr wrap="square" lIns="0" tIns="0" rIns="0" bIns="0" rtlCol="0" anchor="ctr"/>
          <a:lstStyle/>
          <a:p>
            <a:pPr marL="0" indent="0">
              <a:buNone/>
            </a:pPr>
            <a:r>
              <a:rPr lang="en-US" sz="1600" b="1" dirty="0">
                <a:solidFill>
                  <a:srgbClr val="22C55E"/>
                </a:solidFill>
                <a:latin typeface="Trebuchet MS" pitchFamily="34" charset="0"/>
                <a:ea typeface="Trebuchet MS" pitchFamily="34" charset="-122"/>
                <a:cs typeface="Trebuchet MS" pitchFamily="34" charset="-120"/>
              </a:rPr>
              <a:t>HTTPS test: Sniffer cannot extract any plaintext — remains in waiting state</a:t>
            </a:r>
            <a:endParaRPr lang="en-US" sz="1600" dirty="0"/>
          </a:p>
        </p:txBody>
      </p:sp>
      <p:sp>
        <p:nvSpPr>
          <p:cNvPr id="8" name="Shape 5"/>
          <p:cNvSpPr/>
          <p:nvPr/>
        </p:nvSpPr>
        <p:spPr>
          <a:xfrm>
            <a:off x="548640" y="2468880"/>
            <a:ext cx="8046720" cy="1371600"/>
          </a:xfrm>
          <a:prstGeom prst="rect">
            <a:avLst/>
          </a:prstGeom>
          <a:solidFill>
            <a:srgbClr val="0D0D0D"/>
          </a:solidFill>
          <a:ln/>
          <a:effectLst>
            <a:outerShdw blurRad="50800" dist="25400" dir="8100000" algn="bl" rotWithShape="0">
              <a:srgbClr val="000000">
                <a:alpha val="20000"/>
              </a:srgbClr>
            </a:outerShdw>
          </a:effectLst>
        </p:spPr>
        <p:txBody>
          <a:bodyPr/>
          <a:lstStyle/>
          <a:p>
            <a:endParaRPr lang="en-US"/>
          </a:p>
        </p:txBody>
      </p:sp>
      <p:sp>
        <p:nvSpPr>
          <p:cNvPr id="9" name="Text 6"/>
          <p:cNvSpPr/>
          <p:nvPr/>
        </p:nvSpPr>
        <p:spPr>
          <a:xfrm>
            <a:off x="822960" y="2560320"/>
            <a:ext cx="7498080" cy="237744"/>
          </a:xfrm>
          <a:prstGeom prst="rect">
            <a:avLst/>
          </a:prstGeom>
          <a:noFill/>
          <a:ln/>
        </p:spPr>
        <p:txBody>
          <a:bodyPr wrap="square" lIns="0" tIns="0" rIns="0" bIns="0" rtlCol="0" anchor="ctr"/>
          <a:lstStyle/>
          <a:p>
            <a:pPr marL="0" indent="0">
              <a:buNone/>
            </a:pPr>
            <a:r>
              <a:rPr lang="en-US" sz="1100" dirty="0">
                <a:solidFill>
                  <a:srgbClr val="A1A1AA"/>
                </a:solidFill>
                <a:latin typeface="Consolas" pitchFamily="34" charset="0"/>
                <a:ea typeface="Consolas" pitchFamily="34" charset="-122"/>
                <a:cs typeface="Consolas" pitchFamily="34" charset="-120"/>
              </a:rPr>
              <a:t>erik@MacBookPro ~ % docker exec -it test2 /bin/bash</a:t>
            </a:r>
            <a:endParaRPr lang="en-US" sz="1100" dirty="0"/>
          </a:p>
        </p:txBody>
      </p:sp>
      <p:sp>
        <p:nvSpPr>
          <p:cNvPr id="10" name="Text 7"/>
          <p:cNvSpPr/>
          <p:nvPr/>
        </p:nvSpPr>
        <p:spPr>
          <a:xfrm>
            <a:off x="822960" y="2798064"/>
            <a:ext cx="7498080" cy="237744"/>
          </a:xfrm>
          <a:prstGeom prst="rect">
            <a:avLst/>
          </a:prstGeom>
          <a:noFill/>
          <a:ln/>
        </p:spPr>
        <p:txBody>
          <a:bodyPr wrap="square" lIns="0" tIns="0" rIns="0" bIns="0" rtlCol="0" anchor="ctr"/>
          <a:lstStyle/>
          <a:p>
            <a:pPr marL="0" indent="0">
              <a:buNone/>
            </a:pPr>
            <a:r>
              <a:rPr lang="en-US" sz="1100" dirty="0">
                <a:solidFill>
                  <a:srgbClr val="22C55E"/>
                </a:solidFill>
                <a:latin typeface="Consolas" pitchFamily="34" charset="0"/>
                <a:ea typeface="Consolas" pitchFamily="34" charset="-122"/>
                <a:cs typeface="Consolas" pitchFamily="34" charset="-120"/>
              </a:rPr>
              <a:t>root@8825974428ee:/# python3 attacker.py</a:t>
            </a:r>
            <a:endParaRPr lang="en-US" sz="1100" dirty="0"/>
          </a:p>
        </p:txBody>
      </p:sp>
      <p:sp>
        <p:nvSpPr>
          <p:cNvPr id="11" name="Text 8"/>
          <p:cNvSpPr/>
          <p:nvPr/>
        </p:nvSpPr>
        <p:spPr>
          <a:xfrm>
            <a:off x="822960" y="3035808"/>
            <a:ext cx="7498080" cy="237744"/>
          </a:xfrm>
          <a:prstGeom prst="rect">
            <a:avLst/>
          </a:prstGeom>
          <a:noFill/>
          <a:ln/>
        </p:spPr>
        <p:txBody>
          <a:bodyPr wrap="square" lIns="0" tIns="0" rIns="0" bIns="0" rtlCol="0" anchor="ctr"/>
          <a:lstStyle/>
          <a:p>
            <a:pPr marL="0" indent="0">
              <a:buNone/>
            </a:pPr>
            <a:r>
              <a:rPr lang="en-US" sz="1100" dirty="0">
                <a:solidFill>
                  <a:srgbClr val="A1A1AA"/>
                </a:solidFill>
                <a:latin typeface="Consolas" pitchFamily="34" charset="0"/>
                <a:ea typeface="Consolas" pitchFamily="34" charset="-122"/>
                <a:cs typeface="Consolas" pitchFamily="34" charset="-120"/>
              </a:rPr>
              <a:t>Listening on eth0...</a:t>
            </a:r>
            <a:endParaRPr lang="en-US" sz="1100" dirty="0"/>
          </a:p>
        </p:txBody>
      </p:sp>
      <p:sp>
        <p:nvSpPr>
          <p:cNvPr id="12" name="Text 9"/>
          <p:cNvSpPr/>
          <p:nvPr/>
        </p:nvSpPr>
        <p:spPr>
          <a:xfrm>
            <a:off x="822960" y="3273552"/>
            <a:ext cx="7498080" cy="237744"/>
          </a:xfrm>
          <a:prstGeom prst="rect">
            <a:avLst/>
          </a:prstGeom>
          <a:noFill/>
          <a:ln/>
        </p:spPr>
        <p:txBody>
          <a:bodyPr wrap="square" lIns="0" tIns="0" rIns="0" bIns="0" rtlCol="0" anchor="ctr"/>
          <a:lstStyle/>
          <a:p>
            <a:pPr marL="0" indent="0">
              <a:buNone/>
            </a:pPr>
            <a:endParaRPr lang="en-US" sz="1100" dirty="0"/>
          </a:p>
        </p:txBody>
      </p:sp>
      <p:sp>
        <p:nvSpPr>
          <p:cNvPr id="13" name="Text 10"/>
          <p:cNvSpPr/>
          <p:nvPr/>
        </p:nvSpPr>
        <p:spPr>
          <a:xfrm>
            <a:off x="822960" y="3511296"/>
            <a:ext cx="7498080" cy="237744"/>
          </a:xfrm>
          <a:prstGeom prst="rect">
            <a:avLst/>
          </a:prstGeom>
          <a:noFill/>
          <a:ln/>
        </p:spPr>
        <p:txBody>
          <a:bodyPr wrap="square" lIns="0" tIns="0" rIns="0" bIns="0" rtlCol="0" anchor="ctr"/>
          <a:lstStyle/>
          <a:p>
            <a:pPr marL="0" indent="0">
              <a:buNone/>
            </a:pPr>
            <a:r>
              <a:rPr lang="en-US" sz="1100" dirty="0">
                <a:solidFill>
                  <a:srgbClr val="F59E0B"/>
                </a:solidFill>
                <a:latin typeface="Consolas" pitchFamily="34" charset="0"/>
                <a:ea typeface="Consolas" pitchFamily="34" charset="-122"/>
                <a:cs typeface="Consolas" pitchFamily="34" charset="-120"/>
              </a:rPr>
              <a:t>█  (sniffer waiting — no plaintext detected)</a:t>
            </a:r>
            <a:endParaRPr lang="en-US" sz="1100" dirty="0"/>
          </a:p>
        </p:txBody>
      </p:sp>
      <p:sp>
        <p:nvSpPr>
          <p:cNvPr id="14" name="Shape 11"/>
          <p:cNvSpPr/>
          <p:nvPr/>
        </p:nvSpPr>
        <p:spPr>
          <a:xfrm>
            <a:off x="457200" y="4069080"/>
            <a:ext cx="3931920" cy="86868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pic>
        <p:nvPicPr>
          <p:cNvPr id="15" name="Image 1" descr="preencoded.png"/>
          <p:cNvPicPr>
            <a:picLocks noChangeAspect="1"/>
          </p:cNvPicPr>
          <p:nvPr/>
        </p:nvPicPr>
        <p:blipFill>
          <a:blip r:embed="rId4"/>
          <a:stretch>
            <a:fillRect/>
          </a:stretch>
        </p:blipFill>
        <p:spPr>
          <a:xfrm>
            <a:off x="594360" y="4160520"/>
            <a:ext cx="320040" cy="320040"/>
          </a:xfrm>
          <a:prstGeom prst="rect">
            <a:avLst/>
          </a:prstGeom>
        </p:spPr>
      </p:pic>
      <p:sp>
        <p:nvSpPr>
          <p:cNvPr id="16" name="Text 12"/>
          <p:cNvSpPr/>
          <p:nvPr/>
        </p:nvSpPr>
        <p:spPr>
          <a:xfrm>
            <a:off x="1005840" y="4114800"/>
            <a:ext cx="3108960" cy="411480"/>
          </a:xfrm>
          <a:prstGeom prst="rect">
            <a:avLst/>
          </a:prstGeom>
          <a:noFill/>
          <a:ln/>
        </p:spPr>
        <p:txBody>
          <a:bodyPr wrap="square" lIns="0" tIns="0" rIns="0" bIns="0" rtlCol="0" anchor="ctr"/>
          <a:lstStyle/>
          <a:p>
            <a:pPr marL="0" indent="0">
              <a:buNone/>
            </a:pPr>
            <a:r>
              <a:rPr lang="en-US" sz="1300" b="1" dirty="0">
                <a:solidFill>
                  <a:srgbClr val="EF4444"/>
                </a:solidFill>
                <a:latin typeface="Trebuchet MS" pitchFamily="34" charset="0"/>
                <a:ea typeface="Trebuchet MS" pitchFamily="34" charset="-122"/>
                <a:cs typeface="Trebuchet MS" pitchFamily="34" charset="-120"/>
              </a:rPr>
              <a:t>HTTP: All data captured</a:t>
            </a:r>
            <a:endParaRPr lang="en-US" sz="1300" dirty="0"/>
          </a:p>
        </p:txBody>
      </p:sp>
      <p:sp>
        <p:nvSpPr>
          <p:cNvPr id="17" name="Text 13"/>
          <p:cNvSpPr/>
          <p:nvPr/>
        </p:nvSpPr>
        <p:spPr>
          <a:xfrm>
            <a:off x="1005840" y="4480560"/>
            <a:ext cx="3108960" cy="365760"/>
          </a:xfrm>
          <a:prstGeom prst="rect">
            <a:avLst/>
          </a:prstGeom>
          <a:noFill/>
          <a:ln/>
        </p:spPr>
        <p:txBody>
          <a:bodyPr wrap="square" lIns="0" tIns="0" rIns="0" bIns="0" rtlCol="0" anchor="ctr"/>
          <a:lstStyle/>
          <a:p>
            <a:pPr marL="0" indent="0">
              <a:buNone/>
            </a:pPr>
            <a:r>
              <a:rPr lang="en-US" sz="1100" dirty="0">
                <a:solidFill>
                  <a:srgbClr val="A1A1AA"/>
                </a:solidFill>
                <a:latin typeface="Calibri" pitchFamily="34" charset="0"/>
                <a:ea typeface="Calibri" pitchFamily="34" charset="-122"/>
                <a:cs typeface="Calibri" pitchFamily="34" charset="-120"/>
              </a:rPr>
              <a:t>No encryption needed by attacker</a:t>
            </a:r>
            <a:endParaRPr lang="en-US" sz="1100" dirty="0"/>
          </a:p>
        </p:txBody>
      </p:sp>
      <p:sp>
        <p:nvSpPr>
          <p:cNvPr id="18" name="Shape 14"/>
          <p:cNvSpPr/>
          <p:nvPr/>
        </p:nvSpPr>
        <p:spPr>
          <a:xfrm>
            <a:off x="4754880" y="4069080"/>
            <a:ext cx="3931920" cy="86868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pic>
        <p:nvPicPr>
          <p:cNvPr id="19" name="Image 2" descr="preencoded.png"/>
          <p:cNvPicPr>
            <a:picLocks noChangeAspect="1"/>
          </p:cNvPicPr>
          <p:nvPr/>
        </p:nvPicPr>
        <p:blipFill>
          <a:blip r:embed="rId5"/>
          <a:stretch>
            <a:fillRect/>
          </a:stretch>
        </p:blipFill>
        <p:spPr>
          <a:xfrm>
            <a:off x="4892040" y="4160520"/>
            <a:ext cx="320040" cy="320040"/>
          </a:xfrm>
          <a:prstGeom prst="rect">
            <a:avLst/>
          </a:prstGeom>
        </p:spPr>
      </p:pic>
      <p:sp>
        <p:nvSpPr>
          <p:cNvPr id="20" name="Text 15"/>
          <p:cNvSpPr/>
          <p:nvPr/>
        </p:nvSpPr>
        <p:spPr>
          <a:xfrm>
            <a:off x="5303520" y="4114800"/>
            <a:ext cx="3108960" cy="411480"/>
          </a:xfrm>
          <a:prstGeom prst="rect">
            <a:avLst/>
          </a:prstGeom>
          <a:noFill/>
          <a:ln/>
        </p:spPr>
        <p:txBody>
          <a:bodyPr wrap="square" lIns="0" tIns="0" rIns="0" bIns="0" rtlCol="0" anchor="ctr"/>
          <a:lstStyle/>
          <a:p>
            <a:pPr marL="0" indent="0">
              <a:buNone/>
            </a:pPr>
            <a:r>
              <a:rPr lang="en-US" sz="1300" b="1" dirty="0">
                <a:solidFill>
                  <a:srgbClr val="22C55E"/>
                </a:solidFill>
                <a:latin typeface="Trebuchet MS" pitchFamily="34" charset="0"/>
                <a:ea typeface="Trebuchet MS" pitchFamily="34" charset="-122"/>
                <a:cs typeface="Trebuchet MS" pitchFamily="34" charset="-120"/>
              </a:rPr>
              <a:t>HTTPS: Zero data extracted</a:t>
            </a:r>
            <a:endParaRPr lang="en-US" sz="1300" dirty="0"/>
          </a:p>
        </p:txBody>
      </p:sp>
      <p:sp>
        <p:nvSpPr>
          <p:cNvPr id="21" name="Text 16"/>
          <p:cNvSpPr/>
          <p:nvPr/>
        </p:nvSpPr>
        <p:spPr>
          <a:xfrm>
            <a:off x="5303520" y="4480560"/>
            <a:ext cx="3108960" cy="365760"/>
          </a:xfrm>
          <a:prstGeom prst="rect">
            <a:avLst/>
          </a:prstGeom>
          <a:noFill/>
          <a:ln/>
        </p:spPr>
        <p:txBody>
          <a:bodyPr wrap="square" lIns="0" tIns="0" rIns="0" bIns="0" rtlCol="0" anchor="ctr"/>
          <a:lstStyle/>
          <a:p>
            <a:pPr marL="0" indent="0">
              <a:buNone/>
            </a:pPr>
            <a:r>
              <a:rPr lang="en-US" sz="1100" dirty="0">
                <a:solidFill>
                  <a:srgbClr val="A1A1AA"/>
                </a:solidFill>
                <a:latin typeface="Calibri" pitchFamily="34" charset="0"/>
                <a:ea typeface="Calibri" pitchFamily="34" charset="-122"/>
                <a:cs typeface="Calibri" pitchFamily="34" charset="-120"/>
              </a:rPr>
              <a:t>TLS prevents interception entirely</a:t>
            </a:r>
            <a:endParaRPr lang="en-US" sz="1100" dirty="0"/>
          </a:p>
        </p:txBody>
      </p:sp>
    </p:spTree>
    <p:extLst>
      <p:ext uri="{BB962C8B-B14F-4D97-AF65-F5344CB8AC3E}">
        <p14:creationId xmlns:p14="http://schemas.microsoft.com/office/powerpoint/2010/main" val="853849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Results — Capture Accuracy &amp; Efficacy</a:t>
            </a:r>
            <a:endParaRPr lang="en-US" sz="3000" dirty="0"/>
          </a:p>
        </p:txBody>
      </p:sp>
      <p:sp>
        <p:nvSpPr>
          <p:cNvPr id="5" name="Shape 3"/>
          <p:cNvSpPr/>
          <p:nvPr/>
        </p:nvSpPr>
        <p:spPr>
          <a:xfrm>
            <a:off x="548640" y="1371600"/>
            <a:ext cx="3657600" cy="182880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6" name="Text 4"/>
          <p:cNvSpPr/>
          <p:nvPr/>
        </p:nvSpPr>
        <p:spPr>
          <a:xfrm>
            <a:off x="548640" y="1417320"/>
            <a:ext cx="3657600" cy="1005840"/>
          </a:xfrm>
          <a:prstGeom prst="rect">
            <a:avLst/>
          </a:prstGeom>
          <a:noFill/>
          <a:ln/>
        </p:spPr>
        <p:txBody>
          <a:bodyPr wrap="square" lIns="0" tIns="0" rIns="0" bIns="0" rtlCol="0" anchor="ctr"/>
          <a:lstStyle/>
          <a:p>
            <a:pPr marL="0" indent="0" algn="ctr">
              <a:buNone/>
            </a:pPr>
            <a:r>
              <a:rPr lang="en-US" sz="6000" b="1" dirty="0">
                <a:solidFill>
                  <a:srgbClr val="2DD4BF"/>
                </a:solidFill>
                <a:latin typeface="Trebuchet MS" pitchFamily="34" charset="0"/>
                <a:ea typeface="Trebuchet MS" pitchFamily="34" charset="-122"/>
                <a:cs typeface="Trebuchet MS" pitchFamily="34" charset="-120"/>
              </a:rPr>
              <a:t>100%</a:t>
            </a:r>
            <a:endParaRPr lang="en-US" sz="6000" dirty="0"/>
          </a:p>
        </p:txBody>
      </p:sp>
      <p:sp>
        <p:nvSpPr>
          <p:cNvPr id="7" name="Text 5"/>
          <p:cNvSpPr/>
          <p:nvPr/>
        </p:nvSpPr>
        <p:spPr>
          <a:xfrm>
            <a:off x="731520" y="2423160"/>
            <a:ext cx="3291840" cy="640080"/>
          </a:xfrm>
          <a:prstGeom prst="rect">
            <a:avLst/>
          </a:prstGeom>
          <a:noFill/>
          <a:ln/>
        </p:spPr>
        <p:txBody>
          <a:bodyPr wrap="square" lIns="0" tIns="0" rIns="0" bIns="0" rtlCol="0" anchor="ctr"/>
          <a:lstStyle/>
          <a:p>
            <a:pPr marL="0" indent="0" algn="ctr">
              <a:buNone/>
            </a:pPr>
            <a:r>
              <a:rPr lang="en-US" sz="1200" dirty="0">
                <a:solidFill>
                  <a:srgbClr val="A1A1AA"/>
                </a:solidFill>
                <a:latin typeface="Calibri" pitchFamily="34" charset="0"/>
                <a:ea typeface="Calibri" pitchFamily="34" charset="-122"/>
                <a:cs typeface="Calibri" pitchFamily="34" charset="-120"/>
              </a:rPr>
              <a:t>Capture rate across 20 repeated tests</a:t>
            </a:r>
            <a:endParaRPr lang="en-US" sz="1200" dirty="0"/>
          </a:p>
          <a:p>
            <a:pPr marL="0" indent="0" algn="ctr">
              <a:buNone/>
            </a:pPr>
            <a:r>
              <a:rPr lang="en-US" sz="1200" dirty="0">
                <a:solidFill>
                  <a:srgbClr val="A1A1AA"/>
                </a:solidFill>
                <a:latin typeface="Calibri" pitchFamily="34" charset="0"/>
                <a:ea typeface="Calibri" pitchFamily="34" charset="-122"/>
                <a:cs typeface="Calibri" pitchFamily="34" charset="-120"/>
              </a:rPr>
              <a:t>after sniffer redesign</a:t>
            </a:r>
            <a:endParaRPr lang="en-US" sz="1200" dirty="0"/>
          </a:p>
        </p:txBody>
      </p:sp>
      <p:sp>
        <p:nvSpPr>
          <p:cNvPr id="8" name="Shape 6"/>
          <p:cNvSpPr/>
          <p:nvPr/>
        </p:nvSpPr>
        <p:spPr>
          <a:xfrm>
            <a:off x="4572000" y="1371600"/>
            <a:ext cx="4023360" cy="182880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9" name="Text 7"/>
          <p:cNvSpPr/>
          <p:nvPr/>
        </p:nvSpPr>
        <p:spPr>
          <a:xfrm>
            <a:off x="4754880" y="1463040"/>
            <a:ext cx="3657600" cy="320040"/>
          </a:xfrm>
          <a:prstGeom prst="rect">
            <a:avLst/>
          </a:prstGeom>
          <a:noFill/>
          <a:ln/>
        </p:spPr>
        <p:txBody>
          <a:bodyPr wrap="square" lIns="0" tIns="0" rIns="0" bIns="0" rtlCol="0" anchor="ctr"/>
          <a:lstStyle/>
          <a:p>
            <a:pPr marL="0" indent="0">
              <a:buNone/>
            </a:pPr>
            <a:r>
              <a:rPr lang="en-US" sz="1600" b="1" dirty="0">
                <a:solidFill>
                  <a:srgbClr val="2DD4BF"/>
                </a:solidFill>
                <a:latin typeface="Trebuchet MS" pitchFamily="34" charset="0"/>
                <a:ea typeface="Trebuchet MS" pitchFamily="34" charset="-122"/>
                <a:cs typeface="Trebuchet MS" pitchFamily="34" charset="-120"/>
              </a:rPr>
              <a:t>Key Takeaway</a:t>
            </a:r>
            <a:endParaRPr lang="en-US" sz="1600" dirty="0"/>
          </a:p>
        </p:txBody>
      </p:sp>
      <p:sp>
        <p:nvSpPr>
          <p:cNvPr id="10" name="Text 8"/>
          <p:cNvSpPr/>
          <p:nvPr/>
        </p:nvSpPr>
        <p:spPr>
          <a:xfrm>
            <a:off x="4754880" y="1828800"/>
            <a:ext cx="3657600" cy="1188720"/>
          </a:xfrm>
          <a:prstGeom prst="rect">
            <a:avLst/>
          </a:prstGeom>
          <a:noFill/>
          <a:ln/>
        </p:spPr>
        <p:txBody>
          <a:bodyPr wrap="square" lIns="0" tIns="0" rIns="0" bIns="0" rtlCol="0" anchor="ctr"/>
          <a:lstStyle/>
          <a:p>
            <a:pPr marL="0" indent="0">
              <a:buNone/>
            </a:pPr>
            <a:r>
              <a:rPr lang="en-US" sz="1300" dirty="0">
                <a:solidFill>
                  <a:srgbClr val="A1A1AA"/>
                </a:solidFill>
                <a:latin typeface="Calibri" pitchFamily="34" charset="0"/>
                <a:ea typeface="Calibri" pitchFamily="34" charset="-122"/>
                <a:cs typeface="Calibri" pitchFamily="34" charset="-120"/>
              </a:rPr>
              <a:t>With an effective sniffing technique and control of an exit node, an attacker can automate the extraction of all plaintext data from that node.</a:t>
            </a:r>
            <a:endParaRPr lang="en-US" sz="1300" dirty="0"/>
          </a:p>
        </p:txBody>
      </p:sp>
      <p:sp>
        <p:nvSpPr>
          <p:cNvPr id="11" name="Shape 9"/>
          <p:cNvSpPr/>
          <p:nvPr/>
        </p:nvSpPr>
        <p:spPr>
          <a:xfrm>
            <a:off x="548640" y="3474720"/>
            <a:ext cx="3840480" cy="12801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2" name="Text 10"/>
          <p:cNvSpPr/>
          <p:nvPr/>
        </p:nvSpPr>
        <p:spPr>
          <a:xfrm>
            <a:off x="731520" y="3566160"/>
            <a:ext cx="3474720" cy="320040"/>
          </a:xfrm>
          <a:prstGeom prst="rect">
            <a:avLst/>
          </a:prstGeom>
          <a:noFill/>
          <a:ln/>
        </p:spPr>
        <p:txBody>
          <a:bodyPr wrap="square" lIns="0" tIns="0" rIns="0" bIns="0" rtlCol="0" anchor="ctr"/>
          <a:lstStyle/>
          <a:p>
            <a:pPr marL="0" indent="0">
              <a:buNone/>
            </a:pPr>
            <a:r>
              <a:rPr lang="en-US" sz="1400" b="1" dirty="0">
                <a:solidFill>
                  <a:srgbClr val="EF4444"/>
                </a:solidFill>
                <a:latin typeface="Trebuchet MS" pitchFamily="34" charset="0"/>
                <a:ea typeface="Trebuchet MS" pitchFamily="34" charset="-122"/>
                <a:cs typeface="Trebuchet MS" pitchFamily="34" charset="-120"/>
              </a:rPr>
              <a:t>Before (Header-based)</a:t>
            </a:r>
            <a:endParaRPr lang="en-US" sz="1400" dirty="0"/>
          </a:p>
        </p:txBody>
      </p:sp>
      <p:sp>
        <p:nvSpPr>
          <p:cNvPr id="13" name="Text 11"/>
          <p:cNvSpPr/>
          <p:nvPr/>
        </p:nvSpPr>
        <p:spPr>
          <a:xfrm>
            <a:off x="731520" y="3931920"/>
            <a:ext cx="3474720" cy="731520"/>
          </a:xfrm>
          <a:prstGeom prst="rect">
            <a:avLst/>
          </a:prstGeom>
          <a:noFill/>
          <a:ln/>
        </p:spPr>
        <p:txBody>
          <a:bodyPr wrap="square" lIns="0" tIns="0" rIns="0" bIns="0" rtlCol="0" anchor="ctr"/>
          <a:lstStyle/>
          <a:p>
            <a:pPr marL="0" indent="0">
              <a:buNone/>
            </a:pPr>
            <a:r>
              <a:rPr lang="en-US" sz="1200" dirty="0">
                <a:solidFill>
                  <a:srgbClr val="A1A1AA"/>
                </a:solidFill>
                <a:latin typeface="Calibri" pitchFamily="34" charset="0"/>
                <a:ea typeface="Calibri" pitchFamily="34" charset="-122"/>
                <a:cs typeface="Calibri" pitchFamily="34" charset="-120"/>
              </a:rPr>
              <a:t>Relied on HTTP header detection.</a:t>
            </a:r>
            <a:endParaRPr lang="en-US" sz="1200" dirty="0"/>
          </a:p>
          <a:p>
            <a:pPr marL="0" indent="0">
              <a:buNone/>
            </a:pPr>
            <a:r>
              <a:rPr lang="en-US" sz="1200" dirty="0">
                <a:solidFill>
                  <a:srgbClr val="A1A1AA"/>
                </a:solidFill>
                <a:latin typeface="Calibri" pitchFamily="34" charset="0"/>
                <a:ea typeface="Calibri" pitchFamily="34" charset="-122"/>
                <a:cs typeface="Calibri" pitchFamily="34" charset="-120"/>
              </a:rPr>
              <a:t>Packet fragmentation caused data loss.</a:t>
            </a:r>
            <a:endParaRPr lang="en-US" sz="1200" dirty="0"/>
          </a:p>
          <a:p>
            <a:pPr marL="0" indent="0">
              <a:buNone/>
            </a:pPr>
            <a:r>
              <a:rPr lang="en-US" sz="1200" dirty="0">
                <a:solidFill>
                  <a:srgbClr val="A1A1AA"/>
                </a:solidFill>
                <a:latin typeface="Calibri" pitchFamily="34" charset="0"/>
                <a:ea typeface="Calibri" pitchFamily="34" charset="-122"/>
                <a:cs typeface="Calibri" pitchFamily="34" charset="-120"/>
              </a:rPr>
              <a:t>Unreliable capture rate.</a:t>
            </a:r>
            <a:endParaRPr lang="en-US" sz="1200" dirty="0"/>
          </a:p>
        </p:txBody>
      </p:sp>
      <p:sp>
        <p:nvSpPr>
          <p:cNvPr id="14" name="Shape 12"/>
          <p:cNvSpPr/>
          <p:nvPr/>
        </p:nvSpPr>
        <p:spPr>
          <a:xfrm>
            <a:off x="4754880" y="3474720"/>
            <a:ext cx="3840480" cy="12801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5" name="Text 13"/>
          <p:cNvSpPr/>
          <p:nvPr/>
        </p:nvSpPr>
        <p:spPr>
          <a:xfrm>
            <a:off x="4937760" y="3566160"/>
            <a:ext cx="3474720" cy="320040"/>
          </a:xfrm>
          <a:prstGeom prst="rect">
            <a:avLst/>
          </a:prstGeom>
          <a:noFill/>
          <a:ln/>
        </p:spPr>
        <p:txBody>
          <a:bodyPr wrap="square" lIns="0" tIns="0" rIns="0" bIns="0" rtlCol="0" anchor="ctr"/>
          <a:lstStyle/>
          <a:p>
            <a:pPr marL="0" indent="0">
              <a:buNone/>
            </a:pPr>
            <a:r>
              <a:rPr lang="en-US" sz="1400" b="1" dirty="0">
                <a:solidFill>
                  <a:srgbClr val="22C55E"/>
                </a:solidFill>
                <a:latin typeface="Trebuchet MS" pitchFamily="34" charset="0"/>
                <a:ea typeface="Trebuchet MS" pitchFamily="34" charset="-122"/>
                <a:cs typeface="Trebuchet MS" pitchFamily="34" charset="-120"/>
              </a:rPr>
              <a:t>After (Raw Payload Scanner)</a:t>
            </a:r>
            <a:endParaRPr lang="en-US" sz="1400" dirty="0"/>
          </a:p>
        </p:txBody>
      </p:sp>
      <p:sp>
        <p:nvSpPr>
          <p:cNvPr id="16" name="Text 14"/>
          <p:cNvSpPr/>
          <p:nvPr/>
        </p:nvSpPr>
        <p:spPr>
          <a:xfrm>
            <a:off x="4937760" y="3931920"/>
            <a:ext cx="3474720" cy="731520"/>
          </a:xfrm>
          <a:prstGeom prst="rect">
            <a:avLst/>
          </a:prstGeom>
          <a:noFill/>
          <a:ln/>
        </p:spPr>
        <p:txBody>
          <a:bodyPr wrap="square" lIns="0" tIns="0" rIns="0" bIns="0" rtlCol="0" anchor="ctr"/>
          <a:lstStyle/>
          <a:p>
            <a:pPr marL="0" indent="0">
              <a:buNone/>
            </a:pPr>
            <a:r>
              <a:rPr lang="en-US" sz="1200" dirty="0">
                <a:solidFill>
                  <a:srgbClr val="A1A1AA"/>
                </a:solidFill>
                <a:latin typeface="Calibri" pitchFamily="34" charset="0"/>
                <a:ea typeface="Calibri" pitchFamily="34" charset="-122"/>
                <a:cs typeface="Calibri" pitchFamily="34" charset="-120"/>
              </a:rPr>
              <a:t>Protocol-independent keyword search.</a:t>
            </a:r>
            <a:endParaRPr lang="en-US" sz="1200" dirty="0"/>
          </a:p>
          <a:p>
            <a:pPr marL="0" indent="0">
              <a:buNone/>
            </a:pPr>
            <a:r>
              <a:rPr lang="en-US" sz="1200" dirty="0">
                <a:solidFill>
                  <a:srgbClr val="A1A1AA"/>
                </a:solidFill>
                <a:latin typeface="Calibri" pitchFamily="34" charset="0"/>
                <a:ea typeface="Calibri" pitchFamily="34" charset="-122"/>
                <a:cs typeface="Calibri" pitchFamily="34" charset="-120"/>
              </a:rPr>
              <a:t>Bypasses fragmentation issues.</a:t>
            </a:r>
            <a:endParaRPr lang="en-US" sz="1200" dirty="0"/>
          </a:p>
          <a:p>
            <a:pPr marL="0" indent="0">
              <a:buNone/>
            </a:pPr>
            <a:r>
              <a:rPr lang="en-US" sz="1200" dirty="0">
                <a:solidFill>
                  <a:srgbClr val="A1A1AA"/>
                </a:solidFill>
                <a:latin typeface="Calibri" pitchFamily="34" charset="0"/>
                <a:ea typeface="Calibri" pitchFamily="34" charset="-122"/>
                <a:cs typeface="Calibri" pitchFamily="34" charset="-120"/>
              </a:rPr>
              <a:t>100% capture across all tests.</a:t>
            </a:r>
            <a:endParaRPr lang="en-US" sz="1200" dirty="0"/>
          </a:p>
        </p:txBody>
      </p:sp>
    </p:spTree>
    <p:extLst>
      <p:ext uri="{BB962C8B-B14F-4D97-AF65-F5344CB8AC3E}">
        <p14:creationId xmlns:p14="http://schemas.microsoft.com/office/powerpoint/2010/main" val="596235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Challenges — Technical Issues &amp; Solutions</a:t>
            </a:r>
            <a:endParaRPr lang="en-US" sz="3000" dirty="0"/>
          </a:p>
        </p:txBody>
      </p:sp>
      <p:sp>
        <p:nvSpPr>
          <p:cNvPr id="5" name="Shape 3"/>
          <p:cNvSpPr/>
          <p:nvPr/>
        </p:nvSpPr>
        <p:spPr>
          <a:xfrm>
            <a:off x="548640" y="1325880"/>
            <a:ext cx="3840480" cy="155448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7" name="Text 4"/>
          <p:cNvSpPr/>
          <p:nvPr/>
        </p:nvSpPr>
        <p:spPr>
          <a:xfrm>
            <a:off x="1234440" y="1417320"/>
            <a:ext cx="2743200" cy="365760"/>
          </a:xfrm>
          <a:prstGeom prst="rect">
            <a:avLst/>
          </a:prstGeom>
          <a:noFill/>
          <a:ln/>
        </p:spPr>
        <p:txBody>
          <a:bodyPr wrap="square" lIns="0" tIns="0" rIns="0" bIns="0" rtlCol="0" anchor="ctr"/>
          <a:lstStyle/>
          <a:p>
            <a:pPr marL="0" indent="0">
              <a:buNone/>
            </a:pPr>
            <a:r>
              <a:rPr lang="en-US" sz="1500" b="1" dirty="0">
                <a:solidFill>
                  <a:srgbClr val="2DD4BF"/>
                </a:solidFill>
                <a:latin typeface="Trebuchet MS" pitchFamily="34" charset="0"/>
                <a:ea typeface="Trebuchet MS" pitchFamily="34" charset="-122"/>
                <a:cs typeface="Trebuchet MS" pitchFamily="34" charset="-120"/>
              </a:rPr>
              <a:t>Tor Protocol</a:t>
            </a:r>
            <a:endParaRPr lang="en-US" sz="1500" dirty="0"/>
          </a:p>
        </p:txBody>
      </p:sp>
      <p:sp>
        <p:nvSpPr>
          <p:cNvPr id="8" name="Text 5"/>
          <p:cNvSpPr/>
          <p:nvPr/>
        </p:nvSpPr>
        <p:spPr>
          <a:xfrm>
            <a:off x="777240" y="1920240"/>
            <a:ext cx="3383280" cy="822960"/>
          </a:xfrm>
          <a:prstGeom prst="rect">
            <a:avLst/>
          </a:prstGeom>
          <a:noFill/>
          <a:ln/>
        </p:spPr>
        <p:txBody>
          <a:bodyPr wrap="square" lIns="0" tIns="0" rIns="0" bIns="0" rtlCol="0" anchor="ctr"/>
          <a:lstStyle/>
          <a:p>
            <a:pPr marL="0" indent="0">
              <a:buNone/>
            </a:pPr>
            <a:r>
              <a:rPr lang="en-US" sz="1100" dirty="0">
                <a:solidFill>
                  <a:srgbClr val="A1A1AA"/>
                </a:solidFill>
                <a:latin typeface="Calibri" pitchFamily="34" charset="0"/>
                <a:ea typeface="Calibri" pitchFamily="34" charset="-122"/>
                <a:cs typeface="Calibri" pitchFamily="34" charset="-120"/>
              </a:rPr>
              <a:t>Ubuntu had Tor 0.4.6.x lacking FlowCtrl/Relay=4.</a:t>
            </a:r>
            <a:endParaRPr lang="en-US" sz="1100" dirty="0"/>
          </a:p>
          <a:p>
            <a:pPr marL="0" indent="0">
              <a:buNone/>
            </a:pPr>
            <a:r>
              <a:rPr lang="en-US" sz="1100" dirty="0">
                <a:solidFill>
                  <a:srgbClr val="A1A1AA"/>
                </a:solidFill>
                <a:latin typeface="Calibri" pitchFamily="34" charset="0"/>
                <a:ea typeface="Calibri" pitchFamily="34" charset="-122"/>
                <a:cs typeface="Calibri" pitchFamily="34" charset="-120"/>
              </a:rPr>
              <a:t>Consensus rejection error.</a:t>
            </a:r>
            <a:endParaRPr lang="en-US" sz="1100" dirty="0"/>
          </a:p>
          <a:p>
            <a:pPr marL="0" indent="0">
              <a:buNone/>
            </a:pPr>
            <a:r>
              <a:rPr lang="en-US" sz="1100" dirty="0">
                <a:solidFill>
                  <a:srgbClr val="A1A1AA"/>
                </a:solidFill>
                <a:latin typeface="Calibri" pitchFamily="34" charset="0"/>
                <a:ea typeface="Calibri" pitchFamily="34" charset="-122"/>
                <a:cs typeface="Calibri" pitchFamily="34" charset="-120"/>
              </a:rPr>
              <a:t>Fix: Migrated to Debian:sid (Tor 0.4.8.x).</a:t>
            </a:r>
            <a:endParaRPr lang="en-US" sz="1100" dirty="0"/>
          </a:p>
        </p:txBody>
      </p:sp>
      <p:sp>
        <p:nvSpPr>
          <p:cNvPr id="9" name="Shape 6"/>
          <p:cNvSpPr/>
          <p:nvPr/>
        </p:nvSpPr>
        <p:spPr>
          <a:xfrm>
            <a:off x="4754880" y="1325880"/>
            <a:ext cx="3840480" cy="155448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1" name="Text 7"/>
          <p:cNvSpPr/>
          <p:nvPr/>
        </p:nvSpPr>
        <p:spPr>
          <a:xfrm>
            <a:off x="5440680" y="1417320"/>
            <a:ext cx="2743200" cy="365760"/>
          </a:xfrm>
          <a:prstGeom prst="rect">
            <a:avLst/>
          </a:prstGeom>
          <a:noFill/>
          <a:ln/>
        </p:spPr>
        <p:txBody>
          <a:bodyPr wrap="square" lIns="0" tIns="0" rIns="0" bIns="0" rtlCol="0" anchor="ctr"/>
          <a:lstStyle/>
          <a:p>
            <a:pPr marL="0" indent="0">
              <a:buNone/>
            </a:pPr>
            <a:r>
              <a:rPr lang="en-US" sz="1500" b="1" dirty="0">
                <a:solidFill>
                  <a:srgbClr val="2DD4BF"/>
                </a:solidFill>
                <a:latin typeface="Trebuchet MS" pitchFamily="34" charset="0"/>
                <a:ea typeface="Trebuchet MS" pitchFamily="34" charset="-122"/>
                <a:cs typeface="Trebuchet MS" pitchFamily="34" charset="-120"/>
              </a:rPr>
              <a:t>Docker Networking</a:t>
            </a:r>
            <a:endParaRPr lang="en-US" sz="1500" dirty="0"/>
          </a:p>
        </p:txBody>
      </p:sp>
      <p:sp>
        <p:nvSpPr>
          <p:cNvPr id="12" name="Text 8"/>
          <p:cNvSpPr/>
          <p:nvPr/>
        </p:nvSpPr>
        <p:spPr>
          <a:xfrm>
            <a:off x="4983480" y="1920240"/>
            <a:ext cx="3383280" cy="822960"/>
          </a:xfrm>
          <a:prstGeom prst="rect">
            <a:avLst/>
          </a:prstGeom>
          <a:noFill/>
          <a:ln/>
        </p:spPr>
        <p:txBody>
          <a:bodyPr wrap="square" lIns="0" tIns="0" rIns="0" bIns="0" rtlCol="0" anchor="ctr"/>
          <a:lstStyle/>
          <a:p>
            <a:pPr marL="0" indent="0">
              <a:buNone/>
            </a:pPr>
            <a:r>
              <a:rPr lang="en-US" sz="1100" dirty="0">
                <a:solidFill>
                  <a:srgbClr val="A1A1AA"/>
                </a:solidFill>
                <a:latin typeface="Calibri" pitchFamily="34" charset="0"/>
                <a:ea typeface="Calibri" pitchFamily="34" charset="-122"/>
                <a:cs typeface="Calibri" pitchFamily="34" charset="-120"/>
              </a:rPr>
              <a:t>Tor binds to 127.0.0.1 by default.</a:t>
            </a:r>
            <a:endParaRPr lang="en-US" sz="1100" dirty="0"/>
          </a:p>
          <a:p>
            <a:pPr marL="0" indent="0">
              <a:buNone/>
            </a:pPr>
            <a:r>
              <a:rPr lang="en-US" sz="1100" dirty="0">
                <a:solidFill>
                  <a:srgbClr val="A1A1AA"/>
                </a:solidFill>
                <a:latin typeface="Calibri" pitchFamily="34" charset="0"/>
                <a:ea typeface="Calibri" pitchFamily="34" charset="-122"/>
                <a:cs typeface="Calibri" pitchFamily="34" charset="-120"/>
              </a:rPr>
              <a:t>Host couldn't reach SOCKS5 proxy.</a:t>
            </a:r>
            <a:endParaRPr lang="en-US" sz="1100" dirty="0"/>
          </a:p>
          <a:p>
            <a:pPr marL="0" indent="0">
              <a:buNone/>
            </a:pPr>
            <a:r>
              <a:rPr lang="en-US" sz="1100" dirty="0">
                <a:solidFill>
                  <a:srgbClr val="A1A1AA"/>
                </a:solidFill>
                <a:latin typeface="Calibri" pitchFamily="34" charset="0"/>
                <a:ea typeface="Calibri" pitchFamily="34" charset="-122"/>
                <a:cs typeface="Calibri" pitchFamily="34" charset="-120"/>
              </a:rPr>
              <a:t>Fix: 0.0.0.0:9050 + chown permissions.</a:t>
            </a:r>
            <a:endParaRPr lang="en-US" sz="1100" dirty="0"/>
          </a:p>
        </p:txBody>
      </p:sp>
      <p:sp>
        <p:nvSpPr>
          <p:cNvPr id="13" name="Shape 9"/>
          <p:cNvSpPr/>
          <p:nvPr/>
        </p:nvSpPr>
        <p:spPr>
          <a:xfrm>
            <a:off x="548640" y="3108960"/>
            <a:ext cx="8046720" cy="155448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5" name="Text 10"/>
          <p:cNvSpPr/>
          <p:nvPr/>
        </p:nvSpPr>
        <p:spPr>
          <a:xfrm>
            <a:off x="1234440" y="3200400"/>
            <a:ext cx="3657600" cy="365760"/>
          </a:xfrm>
          <a:prstGeom prst="rect">
            <a:avLst/>
          </a:prstGeom>
          <a:noFill/>
          <a:ln/>
        </p:spPr>
        <p:txBody>
          <a:bodyPr wrap="square" lIns="0" tIns="0" rIns="0" bIns="0" rtlCol="0" anchor="ctr"/>
          <a:lstStyle/>
          <a:p>
            <a:pPr marL="0" indent="0">
              <a:buNone/>
            </a:pPr>
            <a:r>
              <a:rPr lang="en-US" sz="1500" b="1" dirty="0">
                <a:solidFill>
                  <a:srgbClr val="EF4444"/>
                </a:solidFill>
                <a:latin typeface="Trebuchet MS" pitchFamily="34" charset="0"/>
                <a:ea typeface="Trebuchet MS" pitchFamily="34" charset="-122"/>
                <a:cs typeface="Trebuchet MS" pitchFamily="34" charset="-120"/>
              </a:rPr>
              <a:t>Packet Fragmentation</a:t>
            </a:r>
            <a:endParaRPr lang="en-US" sz="1500" dirty="0"/>
          </a:p>
        </p:txBody>
      </p:sp>
      <p:sp>
        <p:nvSpPr>
          <p:cNvPr id="16" name="Text 11"/>
          <p:cNvSpPr/>
          <p:nvPr/>
        </p:nvSpPr>
        <p:spPr>
          <a:xfrm>
            <a:off x="777240" y="3657600"/>
            <a:ext cx="7589520" cy="822960"/>
          </a:xfrm>
          <a:prstGeom prst="rect">
            <a:avLst/>
          </a:prstGeom>
          <a:noFill/>
          <a:ln/>
        </p:spPr>
        <p:txBody>
          <a:bodyPr wrap="square" lIns="0" tIns="0" rIns="0" bIns="0" rtlCol="0" anchor="ctr"/>
          <a:lstStyle/>
          <a:p>
            <a:pPr marL="0" indent="0">
              <a:buNone/>
            </a:pPr>
            <a:r>
              <a:rPr lang="en-US" sz="1200" dirty="0">
                <a:solidFill>
                  <a:srgbClr val="A1A1AA"/>
                </a:solidFill>
                <a:latin typeface="Calibri" pitchFamily="34" charset="0"/>
                <a:ea typeface="Calibri" pitchFamily="34" charset="-122"/>
                <a:cs typeface="Calibri" pitchFamily="34" charset="-120"/>
              </a:rPr>
              <a:t>Tor/Docker buffering split HTTP headers across packets, breaking header-based detection. Redesigned sniffer to use raw payload keyword scanning — protocol-independent search in TCP payloads. This was the most impactful challenge as it required a fundamental rethink of our sniffing approach.</a:t>
            </a:r>
            <a:endParaRPr lang="en-US" sz="1200" dirty="0"/>
          </a:p>
        </p:txBody>
      </p:sp>
      <p:pic>
        <p:nvPicPr>
          <p:cNvPr id="17" name="Image 1" descr="preencoded.png">
            <a:extLst>
              <a:ext uri="{FF2B5EF4-FFF2-40B4-BE49-F238E27FC236}">
                <a16:creationId xmlns:a16="http://schemas.microsoft.com/office/drawing/2014/main" id="{0B82075D-080B-B6C9-4917-536CC0831261}"/>
              </a:ext>
            </a:extLst>
          </p:cNvPr>
          <p:cNvPicPr>
            <a:picLocks noChangeAspect="1"/>
          </p:cNvPicPr>
          <p:nvPr/>
        </p:nvPicPr>
        <p:blipFill>
          <a:blip r:embed="rId3"/>
          <a:stretch>
            <a:fillRect/>
          </a:stretch>
        </p:blipFill>
        <p:spPr>
          <a:xfrm>
            <a:off x="706002" y="3223260"/>
            <a:ext cx="411480" cy="411480"/>
          </a:xfrm>
          <a:prstGeom prst="rect">
            <a:avLst/>
          </a:prstGeom>
        </p:spPr>
      </p:pic>
      <p:pic>
        <p:nvPicPr>
          <p:cNvPr id="18" name="Image 0" descr="preencoded.png">
            <a:extLst>
              <a:ext uri="{FF2B5EF4-FFF2-40B4-BE49-F238E27FC236}">
                <a16:creationId xmlns:a16="http://schemas.microsoft.com/office/drawing/2014/main" id="{EF1C1DB8-7D6D-EEB7-B374-A4F40DEF9E23}"/>
              </a:ext>
            </a:extLst>
          </p:cNvPr>
          <p:cNvPicPr>
            <a:picLocks noChangeAspect="1"/>
          </p:cNvPicPr>
          <p:nvPr/>
        </p:nvPicPr>
        <p:blipFill>
          <a:blip r:embed="rId4"/>
          <a:stretch>
            <a:fillRect/>
          </a:stretch>
        </p:blipFill>
        <p:spPr>
          <a:xfrm>
            <a:off x="4931380" y="1508760"/>
            <a:ext cx="411480" cy="411480"/>
          </a:xfrm>
          <a:prstGeom prst="rect">
            <a:avLst/>
          </a:prstGeom>
        </p:spPr>
      </p:pic>
      <p:pic>
        <p:nvPicPr>
          <p:cNvPr id="19" name="Image 1" descr="preencoded.png">
            <a:extLst>
              <a:ext uri="{FF2B5EF4-FFF2-40B4-BE49-F238E27FC236}">
                <a16:creationId xmlns:a16="http://schemas.microsoft.com/office/drawing/2014/main" id="{D071011D-36A6-8C82-C622-B01052F133F7}"/>
              </a:ext>
            </a:extLst>
          </p:cNvPr>
          <p:cNvPicPr>
            <a:picLocks noChangeAspect="1"/>
          </p:cNvPicPr>
          <p:nvPr/>
        </p:nvPicPr>
        <p:blipFill>
          <a:blip r:embed="rId5"/>
          <a:stretch>
            <a:fillRect/>
          </a:stretch>
        </p:blipFill>
        <p:spPr>
          <a:xfrm>
            <a:off x="640080" y="1389144"/>
            <a:ext cx="502920" cy="502920"/>
          </a:xfrm>
          <a:prstGeom prst="rect">
            <a:avLst/>
          </a:prstGeom>
        </p:spPr>
      </p:pic>
    </p:spTree>
    <p:extLst>
      <p:ext uri="{BB962C8B-B14F-4D97-AF65-F5344CB8AC3E}">
        <p14:creationId xmlns:p14="http://schemas.microsoft.com/office/powerpoint/2010/main" val="4190369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Limitation — Single-Hop Circuit</a:t>
            </a:r>
            <a:endParaRPr lang="en-US" sz="3000" dirty="0"/>
          </a:p>
        </p:txBody>
      </p:sp>
      <p:sp>
        <p:nvSpPr>
          <p:cNvPr id="5" name="Shape 3"/>
          <p:cNvSpPr/>
          <p:nvPr/>
        </p:nvSpPr>
        <p:spPr>
          <a:xfrm>
            <a:off x="548640" y="1371600"/>
            <a:ext cx="8046720" cy="164592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7" name="Text 4"/>
          <p:cNvSpPr/>
          <p:nvPr/>
        </p:nvSpPr>
        <p:spPr>
          <a:xfrm>
            <a:off x="1371600" y="1463040"/>
            <a:ext cx="6400800" cy="411480"/>
          </a:xfrm>
          <a:prstGeom prst="rect">
            <a:avLst/>
          </a:prstGeom>
          <a:noFill/>
          <a:ln/>
        </p:spPr>
        <p:txBody>
          <a:bodyPr wrap="square" lIns="0" tIns="0" rIns="0" bIns="0" rtlCol="0" anchor="ctr"/>
          <a:lstStyle/>
          <a:p>
            <a:pPr marL="0" indent="0">
              <a:buNone/>
            </a:pPr>
            <a:r>
              <a:rPr lang="en-US" sz="1800" b="1" dirty="0">
                <a:solidFill>
                  <a:srgbClr val="F59E0B"/>
                </a:solidFill>
                <a:latin typeface="Trebuchet MS" pitchFamily="34" charset="0"/>
                <a:ea typeface="Trebuchet MS" pitchFamily="34" charset="-122"/>
                <a:cs typeface="Trebuchet MS" pitchFamily="34" charset="-120"/>
              </a:rPr>
              <a:t>What We Simplified</a:t>
            </a:r>
            <a:endParaRPr lang="en-US" sz="1800" dirty="0"/>
          </a:p>
        </p:txBody>
      </p:sp>
      <p:sp>
        <p:nvSpPr>
          <p:cNvPr id="8" name="Text 5"/>
          <p:cNvSpPr/>
          <p:nvPr/>
        </p:nvSpPr>
        <p:spPr>
          <a:xfrm>
            <a:off x="777240" y="2057400"/>
            <a:ext cx="7589520" cy="777240"/>
          </a:xfrm>
          <a:prstGeom prst="rect">
            <a:avLst/>
          </a:prstGeom>
          <a:noFill/>
          <a:ln/>
        </p:spPr>
        <p:txBody>
          <a:bodyPr wrap="square" lIns="0" tIns="0" rIns="0" bIns="0" rtlCol="0" anchor="ctr"/>
          <a:lstStyle/>
          <a:p>
            <a:pPr marL="0" indent="0">
              <a:buNone/>
            </a:pPr>
            <a:r>
              <a:rPr lang="en-US" sz="1300" dirty="0">
                <a:solidFill>
                  <a:srgbClr val="A1A1AA"/>
                </a:solidFill>
                <a:latin typeface="Calibri" pitchFamily="34" charset="0"/>
                <a:ea typeface="Calibri" pitchFamily="34" charset="-122"/>
                <a:cs typeface="Calibri" pitchFamily="34" charset="-120"/>
              </a:rPr>
              <a:t>We used AllowSingleHopCircuits 1, meaning traffic goes directly through the exit node without the standard 3-hop (guard -&gt; middle -&gt; exit) routing used in real Tor.</a:t>
            </a:r>
            <a:endParaRPr lang="en-US" sz="1300" dirty="0"/>
          </a:p>
        </p:txBody>
      </p:sp>
      <p:sp>
        <p:nvSpPr>
          <p:cNvPr id="9" name="Shape 6"/>
          <p:cNvSpPr/>
          <p:nvPr/>
        </p:nvSpPr>
        <p:spPr>
          <a:xfrm>
            <a:off x="548640" y="3291840"/>
            <a:ext cx="8046720" cy="164592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0" name="Shape 7"/>
          <p:cNvSpPr/>
          <p:nvPr/>
        </p:nvSpPr>
        <p:spPr>
          <a:xfrm>
            <a:off x="548640" y="3291840"/>
            <a:ext cx="64008" cy="1645920"/>
          </a:xfrm>
          <a:prstGeom prst="rect">
            <a:avLst/>
          </a:prstGeom>
          <a:solidFill>
            <a:srgbClr val="22C55E"/>
          </a:solidFill>
          <a:ln/>
        </p:spPr>
        <p:txBody>
          <a:bodyPr/>
          <a:lstStyle/>
          <a:p>
            <a:endParaRPr lang="en-US"/>
          </a:p>
        </p:txBody>
      </p:sp>
      <p:sp>
        <p:nvSpPr>
          <p:cNvPr id="12" name="Text 8"/>
          <p:cNvSpPr/>
          <p:nvPr/>
        </p:nvSpPr>
        <p:spPr>
          <a:xfrm>
            <a:off x="1371600" y="3383280"/>
            <a:ext cx="6400800" cy="411480"/>
          </a:xfrm>
          <a:prstGeom prst="rect">
            <a:avLst/>
          </a:prstGeom>
          <a:noFill/>
          <a:ln/>
        </p:spPr>
        <p:txBody>
          <a:bodyPr wrap="square" lIns="0" tIns="0" rIns="0" bIns="0" rtlCol="0" anchor="ctr"/>
          <a:lstStyle/>
          <a:p>
            <a:pPr marL="0" indent="0">
              <a:buNone/>
            </a:pPr>
            <a:r>
              <a:rPr lang="en-US" sz="1800" b="1" dirty="0">
                <a:solidFill>
                  <a:srgbClr val="22C55E"/>
                </a:solidFill>
                <a:latin typeface="Trebuchet MS" pitchFamily="34" charset="0"/>
                <a:ea typeface="Trebuchet MS" pitchFamily="34" charset="-122"/>
                <a:cs typeface="Trebuchet MS" pitchFamily="34" charset="-120"/>
              </a:rPr>
              <a:t>Why This Does Not Affect Validity</a:t>
            </a:r>
            <a:endParaRPr lang="en-US" sz="1800" dirty="0"/>
          </a:p>
        </p:txBody>
      </p:sp>
      <p:sp>
        <p:nvSpPr>
          <p:cNvPr id="13" name="Text 9"/>
          <p:cNvSpPr/>
          <p:nvPr/>
        </p:nvSpPr>
        <p:spPr>
          <a:xfrm>
            <a:off x="777240" y="3977640"/>
            <a:ext cx="7589520" cy="777240"/>
          </a:xfrm>
          <a:prstGeom prst="rect">
            <a:avLst/>
          </a:prstGeom>
          <a:noFill/>
          <a:ln/>
        </p:spPr>
        <p:txBody>
          <a:bodyPr wrap="square" lIns="0" tIns="0" rIns="0" bIns="0" rtlCol="0" anchor="ctr"/>
          <a:lstStyle/>
          <a:p>
            <a:pPr marL="0" indent="0">
              <a:buNone/>
            </a:pPr>
            <a:r>
              <a:rPr lang="en-US" sz="1300" dirty="0">
                <a:solidFill>
                  <a:srgbClr val="A1A1AA"/>
                </a:solidFill>
                <a:latin typeface="Calibri" pitchFamily="34" charset="0"/>
                <a:ea typeface="Calibri" pitchFamily="34" charset="-122"/>
                <a:cs typeface="Calibri" pitchFamily="34" charset="-120"/>
              </a:rPr>
              <a:t>The vulnerability occurs exclusively at the exit node, after all layers of Tor encryption have been removed. Whether traffic traverses 1 hop or 3, the exit node's view of plaintext application-layer data is identical. Single-hop was chosen solely to reduce infrastructure complexity.</a:t>
            </a:r>
            <a:endParaRPr lang="en-US" sz="1300" dirty="0"/>
          </a:p>
        </p:txBody>
      </p:sp>
      <p:pic>
        <p:nvPicPr>
          <p:cNvPr id="14" name="Image 0" descr="preencoded.png">
            <a:extLst>
              <a:ext uri="{FF2B5EF4-FFF2-40B4-BE49-F238E27FC236}">
                <a16:creationId xmlns:a16="http://schemas.microsoft.com/office/drawing/2014/main" id="{13AE45DB-B4BE-722B-66FF-8B2E4B10A797}"/>
              </a:ext>
            </a:extLst>
          </p:cNvPr>
          <p:cNvPicPr>
            <a:picLocks noChangeAspect="1"/>
          </p:cNvPicPr>
          <p:nvPr/>
        </p:nvPicPr>
        <p:blipFill>
          <a:blip r:embed="rId3"/>
          <a:stretch>
            <a:fillRect/>
          </a:stretch>
        </p:blipFill>
        <p:spPr>
          <a:xfrm>
            <a:off x="777240" y="1463040"/>
            <a:ext cx="457200" cy="457200"/>
          </a:xfrm>
          <a:prstGeom prst="rect">
            <a:avLst/>
          </a:prstGeom>
        </p:spPr>
      </p:pic>
      <p:pic>
        <p:nvPicPr>
          <p:cNvPr id="15" name="Image 1" descr="preencoded.png">
            <a:extLst>
              <a:ext uri="{FF2B5EF4-FFF2-40B4-BE49-F238E27FC236}">
                <a16:creationId xmlns:a16="http://schemas.microsoft.com/office/drawing/2014/main" id="{80239675-995C-5144-93D2-B005BF529663}"/>
              </a:ext>
            </a:extLst>
          </p:cNvPr>
          <p:cNvPicPr>
            <a:picLocks noChangeAspect="1"/>
          </p:cNvPicPr>
          <p:nvPr/>
        </p:nvPicPr>
        <p:blipFill>
          <a:blip r:embed="rId4"/>
          <a:stretch>
            <a:fillRect/>
          </a:stretch>
        </p:blipFill>
        <p:spPr>
          <a:xfrm>
            <a:off x="763524" y="3429000"/>
            <a:ext cx="457200" cy="457200"/>
          </a:xfrm>
          <a:prstGeom prst="rect">
            <a:avLst/>
          </a:prstGeom>
        </p:spPr>
      </p:pic>
    </p:spTree>
    <p:extLst>
      <p:ext uri="{BB962C8B-B14F-4D97-AF65-F5344CB8AC3E}">
        <p14:creationId xmlns:p14="http://schemas.microsoft.com/office/powerpoint/2010/main" val="1886314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Future Work</a:t>
            </a:r>
            <a:endParaRPr lang="en-US" sz="3000" dirty="0"/>
          </a:p>
        </p:txBody>
      </p:sp>
      <p:sp>
        <p:nvSpPr>
          <p:cNvPr id="5" name="Shape 3"/>
          <p:cNvSpPr/>
          <p:nvPr/>
        </p:nvSpPr>
        <p:spPr>
          <a:xfrm>
            <a:off x="548640" y="1325880"/>
            <a:ext cx="8046720" cy="10515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6" name="Shape 4"/>
          <p:cNvSpPr/>
          <p:nvPr/>
        </p:nvSpPr>
        <p:spPr>
          <a:xfrm>
            <a:off x="548640" y="1325880"/>
            <a:ext cx="64008" cy="1051560"/>
          </a:xfrm>
          <a:prstGeom prst="rect">
            <a:avLst/>
          </a:prstGeom>
          <a:solidFill>
            <a:srgbClr val="2DD4BF"/>
          </a:solidFill>
          <a:ln/>
        </p:spPr>
        <p:txBody>
          <a:bodyPr/>
          <a:lstStyle/>
          <a:p>
            <a:endParaRPr lang="en-US"/>
          </a:p>
        </p:txBody>
      </p:sp>
      <p:sp>
        <p:nvSpPr>
          <p:cNvPr id="7" name="Text 5"/>
          <p:cNvSpPr/>
          <p:nvPr/>
        </p:nvSpPr>
        <p:spPr>
          <a:xfrm>
            <a:off x="822960" y="1417320"/>
            <a:ext cx="7498080" cy="32004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SSL Stripping Attacks</a:t>
            </a:r>
            <a:endParaRPr lang="en-US" sz="1600" dirty="0"/>
          </a:p>
        </p:txBody>
      </p:sp>
      <p:sp>
        <p:nvSpPr>
          <p:cNvPr id="8" name="Text 6"/>
          <p:cNvSpPr/>
          <p:nvPr/>
        </p:nvSpPr>
        <p:spPr>
          <a:xfrm>
            <a:off x="822960" y="1783080"/>
            <a:ext cx="7498080" cy="502920"/>
          </a:xfrm>
          <a:prstGeom prst="rect">
            <a:avLst/>
          </a:prstGeom>
          <a:noFill/>
          <a:ln/>
        </p:spPr>
        <p:txBody>
          <a:bodyPr wrap="square" lIns="0" tIns="0" rIns="0" bIns="0" rtlCol="0" anchor="ctr"/>
          <a:lstStyle/>
          <a:p>
            <a:pPr marL="0" indent="0">
              <a:buNone/>
            </a:pPr>
            <a:r>
              <a:rPr lang="en-US" sz="1200" dirty="0">
                <a:solidFill>
                  <a:srgbClr val="A1A1AA"/>
                </a:solidFill>
                <a:latin typeface="Calibri" pitchFamily="34" charset="0"/>
                <a:ea typeface="Calibri" pitchFamily="34" charset="-122"/>
                <a:cs typeface="Calibri" pitchFamily="34" charset="-120"/>
              </a:rPr>
              <a:t>Downgrading HTTPS to HTTP at the exit node. Note: Tor Browser enables HTTPS-Only mode by default since v11.5, but non-browser SOCKS5 clients remain vulnerable.</a:t>
            </a:r>
            <a:endParaRPr lang="en-US" sz="1200" dirty="0"/>
          </a:p>
        </p:txBody>
      </p:sp>
      <p:sp>
        <p:nvSpPr>
          <p:cNvPr id="9" name="Shape 7"/>
          <p:cNvSpPr/>
          <p:nvPr/>
        </p:nvSpPr>
        <p:spPr>
          <a:xfrm>
            <a:off x="548640" y="2514600"/>
            <a:ext cx="8046720" cy="10515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0" name="Shape 8"/>
          <p:cNvSpPr/>
          <p:nvPr/>
        </p:nvSpPr>
        <p:spPr>
          <a:xfrm>
            <a:off x="548640" y="2514600"/>
            <a:ext cx="64008" cy="1051560"/>
          </a:xfrm>
          <a:prstGeom prst="rect">
            <a:avLst/>
          </a:prstGeom>
          <a:solidFill>
            <a:srgbClr val="2DD4BF"/>
          </a:solidFill>
          <a:ln/>
        </p:spPr>
        <p:txBody>
          <a:bodyPr/>
          <a:lstStyle/>
          <a:p>
            <a:endParaRPr lang="en-US"/>
          </a:p>
        </p:txBody>
      </p:sp>
      <p:sp>
        <p:nvSpPr>
          <p:cNvPr id="11" name="Text 9"/>
          <p:cNvSpPr/>
          <p:nvPr/>
        </p:nvSpPr>
        <p:spPr>
          <a:xfrm>
            <a:off x="822960" y="2606040"/>
            <a:ext cx="7498080" cy="32004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Automated Credential Detection</a:t>
            </a:r>
            <a:endParaRPr lang="en-US" sz="1600" dirty="0"/>
          </a:p>
        </p:txBody>
      </p:sp>
      <p:sp>
        <p:nvSpPr>
          <p:cNvPr id="12" name="Text 10"/>
          <p:cNvSpPr/>
          <p:nvPr/>
        </p:nvSpPr>
        <p:spPr>
          <a:xfrm>
            <a:off x="822960" y="2971800"/>
            <a:ext cx="7498080" cy="502920"/>
          </a:xfrm>
          <a:prstGeom prst="rect">
            <a:avLst/>
          </a:prstGeom>
          <a:noFill/>
          <a:ln/>
        </p:spPr>
        <p:txBody>
          <a:bodyPr wrap="square" lIns="0" tIns="0" rIns="0" bIns="0" rtlCol="0" anchor="ctr"/>
          <a:lstStyle/>
          <a:p>
            <a:pPr marL="0" indent="0">
              <a:buNone/>
            </a:pPr>
            <a:r>
              <a:rPr lang="en-US" sz="1200" dirty="0">
                <a:solidFill>
                  <a:srgbClr val="A1A1AA"/>
                </a:solidFill>
                <a:latin typeface="Calibri" pitchFamily="34" charset="0"/>
                <a:ea typeface="Calibri" pitchFamily="34" charset="-122"/>
                <a:cs typeface="Calibri" pitchFamily="34" charset="-120"/>
              </a:rPr>
              <a:t>Building pattern-matching systems for high-volume traffic and correlating credentials with session data to reflect real attacker capabilities.</a:t>
            </a:r>
            <a:endParaRPr lang="en-US" sz="1200" dirty="0"/>
          </a:p>
        </p:txBody>
      </p:sp>
      <p:sp>
        <p:nvSpPr>
          <p:cNvPr id="13" name="Shape 11"/>
          <p:cNvSpPr/>
          <p:nvPr/>
        </p:nvSpPr>
        <p:spPr>
          <a:xfrm>
            <a:off x="548640" y="3703320"/>
            <a:ext cx="8046720" cy="1051560"/>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4" name="Shape 12"/>
          <p:cNvSpPr/>
          <p:nvPr/>
        </p:nvSpPr>
        <p:spPr>
          <a:xfrm>
            <a:off x="548640" y="3703320"/>
            <a:ext cx="64008" cy="1051560"/>
          </a:xfrm>
          <a:prstGeom prst="rect">
            <a:avLst/>
          </a:prstGeom>
          <a:solidFill>
            <a:srgbClr val="2DD4BF"/>
          </a:solidFill>
          <a:ln/>
        </p:spPr>
        <p:txBody>
          <a:bodyPr/>
          <a:lstStyle/>
          <a:p>
            <a:endParaRPr lang="en-US"/>
          </a:p>
        </p:txBody>
      </p:sp>
      <p:sp>
        <p:nvSpPr>
          <p:cNvPr id="15" name="Text 13"/>
          <p:cNvSpPr/>
          <p:nvPr/>
        </p:nvSpPr>
        <p:spPr>
          <a:xfrm>
            <a:off x="822960" y="3794760"/>
            <a:ext cx="7498080" cy="32004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DNS Leakage Analysis</a:t>
            </a:r>
            <a:endParaRPr lang="en-US" sz="1600" dirty="0"/>
          </a:p>
        </p:txBody>
      </p:sp>
      <p:sp>
        <p:nvSpPr>
          <p:cNvPr id="16" name="Text 14"/>
          <p:cNvSpPr/>
          <p:nvPr/>
        </p:nvSpPr>
        <p:spPr>
          <a:xfrm>
            <a:off x="822960" y="4160520"/>
            <a:ext cx="7498080" cy="502920"/>
          </a:xfrm>
          <a:prstGeom prst="rect">
            <a:avLst/>
          </a:prstGeom>
          <a:noFill/>
          <a:ln/>
        </p:spPr>
        <p:txBody>
          <a:bodyPr wrap="square" lIns="0" tIns="0" rIns="0" bIns="0" rtlCol="0" anchor="ctr"/>
          <a:lstStyle/>
          <a:p>
            <a:pPr marL="0" indent="0">
              <a:buNone/>
            </a:pPr>
            <a:r>
              <a:rPr lang="en-US" sz="1200" dirty="0">
                <a:solidFill>
                  <a:srgbClr val="A1A1AA"/>
                </a:solidFill>
                <a:latin typeface="Calibri" pitchFamily="34" charset="0"/>
                <a:ea typeface="Calibri" pitchFamily="34" charset="-122"/>
                <a:cs typeface="Calibri" pitchFamily="34" charset="-120"/>
              </a:rPr>
              <a:t>DNS requests can reveal destination information independently of HTTP traffic, representing another important attack vector over Tor.</a:t>
            </a:r>
            <a:endParaRPr lang="en-US" sz="1200" dirty="0"/>
          </a:p>
        </p:txBody>
      </p:sp>
    </p:spTree>
    <p:extLst>
      <p:ext uri="{BB962C8B-B14F-4D97-AF65-F5344CB8AC3E}">
        <p14:creationId xmlns:p14="http://schemas.microsoft.com/office/powerpoint/2010/main" val="1252810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Conclusion</a:t>
            </a:r>
            <a:endParaRPr lang="en-US" sz="3000" dirty="0"/>
          </a:p>
        </p:txBody>
      </p:sp>
      <p:sp>
        <p:nvSpPr>
          <p:cNvPr id="5" name="Shape 3"/>
          <p:cNvSpPr/>
          <p:nvPr/>
        </p:nvSpPr>
        <p:spPr>
          <a:xfrm>
            <a:off x="548640" y="1371600"/>
            <a:ext cx="8046720" cy="530352"/>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7" name="Text 4"/>
          <p:cNvSpPr/>
          <p:nvPr/>
        </p:nvSpPr>
        <p:spPr>
          <a:xfrm>
            <a:off x="1188720" y="1371600"/>
            <a:ext cx="7223760" cy="53035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Tor's anonymity model does NOT extend to data confidentiality</a:t>
            </a:r>
            <a:endParaRPr lang="en-US" sz="1400" dirty="0"/>
          </a:p>
        </p:txBody>
      </p:sp>
      <p:sp>
        <p:nvSpPr>
          <p:cNvPr id="8" name="Shape 5"/>
          <p:cNvSpPr/>
          <p:nvPr/>
        </p:nvSpPr>
        <p:spPr>
          <a:xfrm>
            <a:off x="548640" y="2011680"/>
            <a:ext cx="8046720" cy="530352"/>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0" name="Text 6"/>
          <p:cNvSpPr/>
          <p:nvPr/>
        </p:nvSpPr>
        <p:spPr>
          <a:xfrm>
            <a:off x="1188720" y="2011680"/>
            <a:ext cx="7223760" cy="53035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Exit node operators have full visibility into plaintext application-layer traffic</a:t>
            </a:r>
            <a:endParaRPr lang="en-US" sz="1400" dirty="0"/>
          </a:p>
        </p:txBody>
      </p:sp>
      <p:sp>
        <p:nvSpPr>
          <p:cNvPr id="11" name="Shape 7"/>
          <p:cNvSpPr/>
          <p:nvPr/>
        </p:nvSpPr>
        <p:spPr>
          <a:xfrm>
            <a:off x="548640" y="2651760"/>
            <a:ext cx="8046720" cy="530352"/>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3" name="Text 8"/>
          <p:cNvSpPr/>
          <p:nvPr/>
        </p:nvSpPr>
        <p:spPr>
          <a:xfrm>
            <a:off x="1188720" y="2651760"/>
            <a:ext cx="7223760" cy="53035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No active attack or complex decryption is needed — passive sniffing is sufficient</a:t>
            </a:r>
            <a:endParaRPr lang="en-US" sz="1400" dirty="0"/>
          </a:p>
        </p:txBody>
      </p:sp>
      <p:sp>
        <p:nvSpPr>
          <p:cNvPr id="14" name="Shape 9"/>
          <p:cNvSpPr/>
          <p:nvPr/>
        </p:nvSpPr>
        <p:spPr>
          <a:xfrm>
            <a:off x="548640" y="3291840"/>
            <a:ext cx="8046720" cy="530352"/>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6" name="Text 10"/>
          <p:cNvSpPr/>
          <p:nvPr/>
        </p:nvSpPr>
        <p:spPr>
          <a:xfrm>
            <a:off x="1188720" y="3291840"/>
            <a:ext cx="7223760" cy="53035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HTTPS prevents this interception entirely, confirming the need for end-to-end encryption</a:t>
            </a:r>
            <a:endParaRPr lang="en-US" sz="1400" dirty="0"/>
          </a:p>
        </p:txBody>
      </p:sp>
      <p:sp>
        <p:nvSpPr>
          <p:cNvPr id="17" name="Shape 11"/>
          <p:cNvSpPr/>
          <p:nvPr/>
        </p:nvSpPr>
        <p:spPr>
          <a:xfrm>
            <a:off x="548640" y="3931920"/>
            <a:ext cx="8046720" cy="530352"/>
          </a:xfrm>
          <a:prstGeom prst="rect">
            <a:avLst/>
          </a:prstGeom>
          <a:solidFill>
            <a:srgbClr val="2A2A3C"/>
          </a:solidFill>
          <a:ln/>
          <a:effectLst>
            <a:outerShdw blurRad="50800" dist="25400" dir="8100000" algn="bl" rotWithShape="0">
              <a:srgbClr val="000000">
                <a:alpha val="20000"/>
              </a:srgbClr>
            </a:outerShdw>
          </a:effectLst>
        </p:spPr>
        <p:txBody>
          <a:bodyPr/>
          <a:lstStyle/>
          <a:p>
            <a:endParaRPr lang="en-US"/>
          </a:p>
        </p:txBody>
      </p:sp>
      <p:sp>
        <p:nvSpPr>
          <p:cNvPr id="19" name="Text 12"/>
          <p:cNvSpPr/>
          <p:nvPr/>
        </p:nvSpPr>
        <p:spPr>
          <a:xfrm>
            <a:off x="1188720" y="3931920"/>
            <a:ext cx="7223760" cy="530352"/>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Even a single malicious exit node can harvest sensitive data from unprotected users</a:t>
            </a:r>
            <a:endParaRPr lang="en-US" sz="1400" dirty="0"/>
          </a:p>
        </p:txBody>
      </p:sp>
      <p:sp>
        <p:nvSpPr>
          <p:cNvPr id="20" name="Shape 13"/>
          <p:cNvSpPr/>
          <p:nvPr/>
        </p:nvSpPr>
        <p:spPr>
          <a:xfrm>
            <a:off x="548640" y="4617720"/>
            <a:ext cx="8046720" cy="411480"/>
          </a:xfrm>
          <a:prstGeom prst="rect">
            <a:avLst/>
          </a:prstGeom>
          <a:solidFill>
            <a:srgbClr val="0D9488"/>
          </a:solidFill>
          <a:ln/>
          <a:effectLst>
            <a:outerShdw blurRad="50800" dist="25400" dir="8100000" algn="bl" rotWithShape="0">
              <a:srgbClr val="000000">
                <a:alpha val="20000"/>
              </a:srgbClr>
            </a:outerShdw>
          </a:effectLst>
        </p:spPr>
        <p:txBody>
          <a:bodyPr/>
          <a:lstStyle/>
          <a:p>
            <a:endParaRPr lang="en-US"/>
          </a:p>
        </p:txBody>
      </p:sp>
      <p:sp>
        <p:nvSpPr>
          <p:cNvPr id="21" name="Text 14"/>
          <p:cNvSpPr/>
          <p:nvPr/>
        </p:nvSpPr>
        <p:spPr>
          <a:xfrm>
            <a:off x="731520" y="4617720"/>
            <a:ext cx="768096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Application-layer encryption must be present regardless of what anonymity network is in use.</a:t>
            </a:r>
            <a:endParaRPr lang="en-US" sz="1300" dirty="0"/>
          </a:p>
        </p:txBody>
      </p:sp>
      <p:pic>
        <p:nvPicPr>
          <p:cNvPr id="22" name="Image 0" descr="preencoded.png">
            <a:extLst>
              <a:ext uri="{FF2B5EF4-FFF2-40B4-BE49-F238E27FC236}">
                <a16:creationId xmlns:a16="http://schemas.microsoft.com/office/drawing/2014/main" id="{D414A352-7DD1-AA10-EA66-E718D7FFF142}"/>
              </a:ext>
            </a:extLst>
          </p:cNvPr>
          <p:cNvPicPr>
            <a:picLocks noChangeAspect="1"/>
          </p:cNvPicPr>
          <p:nvPr/>
        </p:nvPicPr>
        <p:blipFill>
          <a:blip r:embed="rId3"/>
          <a:stretch>
            <a:fillRect/>
          </a:stretch>
        </p:blipFill>
        <p:spPr>
          <a:xfrm>
            <a:off x="708660" y="1459611"/>
            <a:ext cx="320040" cy="320040"/>
          </a:xfrm>
          <a:prstGeom prst="rect">
            <a:avLst/>
          </a:prstGeom>
        </p:spPr>
      </p:pic>
      <p:pic>
        <p:nvPicPr>
          <p:cNvPr id="23" name="Image 0" descr="preencoded.png">
            <a:extLst>
              <a:ext uri="{FF2B5EF4-FFF2-40B4-BE49-F238E27FC236}">
                <a16:creationId xmlns:a16="http://schemas.microsoft.com/office/drawing/2014/main" id="{774EC4C4-2559-140E-4295-222B201DFC9F}"/>
              </a:ext>
            </a:extLst>
          </p:cNvPr>
          <p:cNvPicPr>
            <a:picLocks noChangeAspect="1"/>
          </p:cNvPicPr>
          <p:nvPr/>
        </p:nvPicPr>
        <p:blipFill>
          <a:blip r:embed="rId3"/>
          <a:stretch>
            <a:fillRect/>
          </a:stretch>
        </p:blipFill>
        <p:spPr>
          <a:xfrm>
            <a:off x="685800" y="2103120"/>
            <a:ext cx="320040" cy="320040"/>
          </a:xfrm>
          <a:prstGeom prst="rect">
            <a:avLst/>
          </a:prstGeom>
        </p:spPr>
      </p:pic>
      <p:pic>
        <p:nvPicPr>
          <p:cNvPr id="24" name="Image 0" descr="preencoded.png">
            <a:extLst>
              <a:ext uri="{FF2B5EF4-FFF2-40B4-BE49-F238E27FC236}">
                <a16:creationId xmlns:a16="http://schemas.microsoft.com/office/drawing/2014/main" id="{460E7BB5-D4AE-9D5F-FBDF-27405D834EF8}"/>
              </a:ext>
            </a:extLst>
          </p:cNvPr>
          <p:cNvPicPr>
            <a:picLocks noChangeAspect="1"/>
          </p:cNvPicPr>
          <p:nvPr/>
        </p:nvPicPr>
        <p:blipFill>
          <a:blip r:embed="rId3"/>
          <a:stretch>
            <a:fillRect/>
          </a:stretch>
        </p:blipFill>
        <p:spPr>
          <a:xfrm>
            <a:off x="682942" y="2717824"/>
            <a:ext cx="320040" cy="320040"/>
          </a:xfrm>
          <a:prstGeom prst="rect">
            <a:avLst/>
          </a:prstGeom>
        </p:spPr>
      </p:pic>
      <p:pic>
        <p:nvPicPr>
          <p:cNvPr id="25" name="Image 0" descr="preencoded.png">
            <a:extLst>
              <a:ext uri="{FF2B5EF4-FFF2-40B4-BE49-F238E27FC236}">
                <a16:creationId xmlns:a16="http://schemas.microsoft.com/office/drawing/2014/main" id="{59EDD17F-A3F1-CB3C-2C40-113B37D2011F}"/>
              </a:ext>
            </a:extLst>
          </p:cNvPr>
          <p:cNvPicPr>
            <a:picLocks noChangeAspect="1"/>
          </p:cNvPicPr>
          <p:nvPr/>
        </p:nvPicPr>
        <p:blipFill>
          <a:blip r:embed="rId3"/>
          <a:stretch>
            <a:fillRect/>
          </a:stretch>
        </p:blipFill>
        <p:spPr>
          <a:xfrm>
            <a:off x="681037" y="3374136"/>
            <a:ext cx="320040" cy="320040"/>
          </a:xfrm>
          <a:prstGeom prst="rect">
            <a:avLst/>
          </a:prstGeom>
        </p:spPr>
      </p:pic>
      <p:pic>
        <p:nvPicPr>
          <p:cNvPr id="26" name="Image 0" descr="preencoded.png">
            <a:extLst>
              <a:ext uri="{FF2B5EF4-FFF2-40B4-BE49-F238E27FC236}">
                <a16:creationId xmlns:a16="http://schemas.microsoft.com/office/drawing/2014/main" id="{8C8AC5FA-9D95-5770-FFEC-78E59DC06F78}"/>
              </a:ext>
            </a:extLst>
          </p:cNvPr>
          <p:cNvPicPr>
            <a:picLocks noChangeAspect="1"/>
          </p:cNvPicPr>
          <p:nvPr/>
        </p:nvPicPr>
        <p:blipFill>
          <a:blip r:embed="rId3"/>
          <a:stretch>
            <a:fillRect/>
          </a:stretch>
        </p:blipFill>
        <p:spPr>
          <a:xfrm>
            <a:off x="685800" y="4110689"/>
            <a:ext cx="320040" cy="320040"/>
          </a:xfrm>
          <a:prstGeom prst="rect">
            <a:avLst/>
          </a:prstGeom>
        </p:spPr>
      </p:pic>
    </p:spTree>
    <p:extLst>
      <p:ext uri="{BB962C8B-B14F-4D97-AF65-F5344CB8AC3E}">
        <p14:creationId xmlns:p14="http://schemas.microsoft.com/office/powerpoint/2010/main" val="13536020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1E2E"/>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9488"/>
          </a:solidFill>
          <a:ln/>
        </p:spPr>
        <p:txBody>
          <a:bodyPr/>
          <a:lstStyle/>
          <a:p>
            <a:endParaRPr lang="en-US"/>
          </a:p>
        </p:txBody>
      </p:sp>
      <p:sp>
        <p:nvSpPr>
          <p:cNvPr id="3" name="Shape 1"/>
          <p:cNvSpPr/>
          <p:nvPr/>
        </p:nvSpPr>
        <p:spPr>
          <a:xfrm>
            <a:off x="0" y="0"/>
            <a:ext cx="4114800" cy="1051560"/>
          </a:xfrm>
          <a:prstGeom prst="rect">
            <a:avLst/>
          </a:prstGeom>
          <a:solidFill>
            <a:srgbClr val="2DD4BF">
              <a:alpha val="70000"/>
            </a:srgbClr>
          </a:solidFill>
          <a:ln/>
        </p:spPr>
        <p:txBody>
          <a:bodyPr/>
          <a:lstStyle/>
          <a:p>
            <a:endParaRPr lang="en-US"/>
          </a:p>
        </p:txBody>
      </p:sp>
      <p:sp>
        <p:nvSpPr>
          <p:cNvPr id="4" name="Text 2"/>
          <p:cNvSpPr/>
          <p:nvPr/>
        </p:nvSpPr>
        <p:spPr>
          <a:xfrm>
            <a:off x="548640" y="182880"/>
            <a:ext cx="804672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References</a:t>
            </a:r>
            <a:endParaRPr lang="en-US" sz="3000" dirty="0"/>
          </a:p>
        </p:txBody>
      </p:sp>
      <p:sp>
        <p:nvSpPr>
          <p:cNvPr id="5" name="Text 3"/>
          <p:cNvSpPr/>
          <p:nvPr/>
        </p:nvSpPr>
        <p:spPr>
          <a:xfrm>
            <a:off x="685800" y="1193292"/>
            <a:ext cx="7772400" cy="365760"/>
          </a:xfrm>
          <a:prstGeom prst="rect">
            <a:avLst/>
          </a:prstGeom>
          <a:noFill/>
          <a:ln/>
        </p:spPr>
        <p:txBody>
          <a:bodyPr wrap="square" lIns="0" tIns="0" rIns="0" bIns="0" rtlCol="0" anchor="ctr"/>
          <a:lstStyle/>
          <a:p>
            <a:pPr marL="0" indent="0">
              <a:buNone/>
            </a:pPr>
            <a:r>
              <a:rPr lang="en-US" sz="1100" dirty="0">
                <a:solidFill>
                  <a:srgbClr val="A1A1AA"/>
                </a:solidFill>
                <a:latin typeface="Calibri" pitchFamily="34" charset="0"/>
                <a:ea typeface="Calibri" pitchFamily="34" charset="-122"/>
                <a:cs typeface="Calibri" pitchFamily="34" charset="-120"/>
              </a:rPr>
              <a:t>[1] Dingledine et al. 2004 Tor: The Second-Generation Onion Router. USENIX Security.</a:t>
            </a:r>
            <a:endParaRPr lang="en-US" sz="1100" dirty="0"/>
          </a:p>
        </p:txBody>
      </p:sp>
      <p:sp>
        <p:nvSpPr>
          <p:cNvPr id="6" name="Text 4"/>
          <p:cNvSpPr/>
          <p:nvPr/>
        </p:nvSpPr>
        <p:spPr>
          <a:xfrm>
            <a:off x="685800" y="1597914"/>
            <a:ext cx="7772400" cy="365760"/>
          </a:xfrm>
          <a:prstGeom prst="rect">
            <a:avLst/>
          </a:prstGeom>
          <a:noFill/>
          <a:ln/>
        </p:spPr>
        <p:txBody>
          <a:bodyPr wrap="square" lIns="0" tIns="0" rIns="0" bIns="0" rtlCol="0" anchor="ctr"/>
          <a:lstStyle/>
          <a:p>
            <a:pPr marL="0" indent="0">
              <a:buNone/>
            </a:pPr>
            <a:r>
              <a:rPr lang="en-US" sz="1100" dirty="0">
                <a:solidFill>
                  <a:srgbClr val="A1A1AA"/>
                </a:solidFill>
                <a:latin typeface="Calibri" pitchFamily="34" charset="0"/>
                <a:ea typeface="Calibri" pitchFamily="34" charset="-122"/>
                <a:cs typeface="Calibri" pitchFamily="34" charset="-120"/>
              </a:rPr>
              <a:t>[2] Huber et al. 2010. Tor HTTP Usage and Information Leakage. IFIP CMS.</a:t>
            </a:r>
            <a:endParaRPr lang="en-US" sz="1100" dirty="0"/>
          </a:p>
        </p:txBody>
      </p:sp>
      <p:sp>
        <p:nvSpPr>
          <p:cNvPr id="7" name="Text 5"/>
          <p:cNvSpPr/>
          <p:nvPr/>
        </p:nvSpPr>
        <p:spPr>
          <a:xfrm>
            <a:off x="685800" y="2012442"/>
            <a:ext cx="7772400" cy="365760"/>
          </a:xfrm>
          <a:prstGeom prst="rect">
            <a:avLst/>
          </a:prstGeom>
          <a:noFill/>
          <a:ln/>
        </p:spPr>
        <p:txBody>
          <a:bodyPr wrap="square" lIns="0" tIns="0" rIns="0" bIns="0" rtlCol="0" anchor="ctr"/>
          <a:lstStyle/>
          <a:p>
            <a:pPr marL="0" indent="0">
              <a:buNone/>
            </a:pPr>
            <a:r>
              <a:rPr lang="en-US" sz="1100" dirty="0">
                <a:solidFill>
                  <a:srgbClr val="A1A1AA"/>
                </a:solidFill>
                <a:latin typeface="Calibri" pitchFamily="34" charset="0"/>
                <a:ea typeface="Calibri" pitchFamily="34" charset="-122"/>
                <a:cs typeface="Calibri" pitchFamily="34" charset="-120"/>
              </a:rPr>
              <a:t>[3] Johnson et al. 2013. Users Get Routed. ACM CCS.</a:t>
            </a:r>
            <a:endParaRPr lang="en-US" sz="1100" dirty="0"/>
          </a:p>
        </p:txBody>
      </p:sp>
      <p:sp>
        <p:nvSpPr>
          <p:cNvPr id="8" name="Text 6"/>
          <p:cNvSpPr/>
          <p:nvPr/>
        </p:nvSpPr>
        <p:spPr>
          <a:xfrm>
            <a:off x="685800" y="2426970"/>
            <a:ext cx="7772400" cy="365760"/>
          </a:xfrm>
          <a:prstGeom prst="rect">
            <a:avLst/>
          </a:prstGeom>
          <a:noFill/>
          <a:ln/>
        </p:spPr>
        <p:txBody>
          <a:bodyPr wrap="square" lIns="0" tIns="0" rIns="0" bIns="0" rtlCol="0" anchor="ctr"/>
          <a:lstStyle/>
          <a:p>
            <a:pPr marL="0" indent="0">
              <a:buNone/>
            </a:pPr>
            <a:r>
              <a:rPr lang="en-US" sz="1100" dirty="0">
                <a:solidFill>
                  <a:srgbClr val="A1A1AA"/>
                </a:solidFill>
                <a:latin typeface="Calibri" pitchFamily="34" charset="0"/>
                <a:ea typeface="Calibri" pitchFamily="34" charset="-122"/>
                <a:cs typeface="Calibri" pitchFamily="34" charset="-120"/>
              </a:rPr>
              <a:t>[4] The Onion Project. Types of Relays.</a:t>
            </a:r>
            <a:endParaRPr lang="en-US" sz="1100" dirty="0"/>
          </a:p>
        </p:txBody>
      </p:sp>
      <p:sp>
        <p:nvSpPr>
          <p:cNvPr id="9" name="Text 7"/>
          <p:cNvSpPr/>
          <p:nvPr/>
        </p:nvSpPr>
        <p:spPr>
          <a:xfrm>
            <a:off x="685800" y="2814067"/>
            <a:ext cx="7772400" cy="365760"/>
          </a:xfrm>
          <a:prstGeom prst="rect">
            <a:avLst/>
          </a:prstGeom>
          <a:noFill/>
          <a:ln/>
        </p:spPr>
        <p:txBody>
          <a:bodyPr wrap="square" lIns="0" tIns="0" rIns="0" bIns="0" rtlCol="0" anchor="ctr"/>
          <a:lstStyle/>
          <a:p>
            <a:pPr marL="0" indent="0">
              <a:buNone/>
            </a:pPr>
            <a:r>
              <a:rPr lang="en-US" sz="1100" dirty="0">
                <a:solidFill>
                  <a:srgbClr val="A1A1AA"/>
                </a:solidFill>
                <a:latin typeface="Calibri" pitchFamily="34" charset="0"/>
                <a:ea typeface="Calibri" pitchFamily="34" charset="-122"/>
                <a:cs typeface="Calibri" pitchFamily="34" charset="-120"/>
              </a:rPr>
              <a:t>[5] The Onion Project. Tor Metrics.</a:t>
            </a:r>
            <a:endParaRPr lang="en-US" sz="1100" dirty="0"/>
          </a:p>
        </p:txBody>
      </p:sp>
      <p:sp>
        <p:nvSpPr>
          <p:cNvPr id="10" name="Text 8"/>
          <p:cNvSpPr/>
          <p:nvPr/>
        </p:nvSpPr>
        <p:spPr>
          <a:xfrm>
            <a:off x="685800" y="3179827"/>
            <a:ext cx="7772400" cy="365760"/>
          </a:xfrm>
          <a:prstGeom prst="rect">
            <a:avLst/>
          </a:prstGeom>
          <a:noFill/>
          <a:ln/>
        </p:spPr>
        <p:txBody>
          <a:bodyPr wrap="square" lIns="0" tIns="0" rIns="0" bIns="0" rtlCol="0" anchor="ctr"/>
          <a:lstStyle/>
          <a:p>
            <a:pPr marL="0" indent="0">
              <a:buNone/>
            </a:pPr>
            <a:r>
              <a:rPr lang="en-US" sz="1100" dirty="0">
                <a:solidFill>
                  <a:srgbClr val="A1A1AA"/>
                </a:solidFill>
                <a:latin typeface="Calibri" pitchFamily="34" charset="0"/>
                <a:ea typeface="Calibri" pitchFamily="34" charset="-122"/>
                <a:cs typeface="Calibri" pitchFamily="34" charset="-120"/>
              </a:rPr>
              <a:t>[6] Sulaiman &amp; Zhioua. 2013. Attacking Tor through Unpopular Ports. IEEE.</a:t>
            </a:r>
            <a:endParaRPr lang="en-US" sz="1100" dirty="0"/>
          </a:p>
        </p:txBody>
      </p:sp>
      <p:sp>
        <p:nvSpPr>
          <p:cNvPr id="11" name="Text 9"/>
          <p:cNvSpPr/>
          <p:nvPr/>
        </p:nvSpPr>
        <p:spPr>
          <a:xfrm>
            <a:off x="685800" y="3610356"/>
            <a:ext cx="7772400" cy="365760"/>
          </a:xfrm>
          <a:prstGeom prst="rect">
            <a:avLst/>
          </a:prstGeom>
          <a:noFill/>
          <a:ln/>
        </p:spPr>
        <p:txBody>
          <a:bodyPr wrap="square" lIns="0" tIns="0" rIns="0" bIns="0" rtlCol="0" anchor="ctr"/>
          <a:lstStyle/>
          <a:p>
            <a:pPr marL="0" indent="0">
              <a:buNone/>
            </a:pPr>
            <a:r>
              <a:rPr lang="en-US" sz="1100" dirty="0">
                <a:solidFill>
                  <a:srgbClr val="A1A1AA"/>
                </a:solidFill>
                <a:latin typeface="Calibri" pitchFamily="34" charset="0"/>
                <a:ea typeface="Calibri" pitchFamily="34" charset="-122"/>
                <a:cs typeface="Calibri" pitchFamily="34" charset="-120"/>
              </a:rPr>
              <a:t>[7] Tan &amp; Li. 2022. An Anonymity Vulnerability in Tor. IEEE/ACM ToN.</a:t>
            </a:r>
            <a:endParaRPr lang="en-US" sz="1100" dirty="0"/>
          </a:p>
        </p:txBody>
      </p:sp>
      <p:sp>
        <p:nvSpPr>
          <p:cNvPr id="12" name="Text 10"/>
          <p:cNvSpPr/>
          <p:nvPr/>
        </p:nvSpPr>
        <p:spPr>
          <a:xfrm>
            <a:off x="685800" y="4419600"/>
            <a:ext cx="7772400" cy="365760"/>
          </a:xfrm>
          <a:prstGeom prst="rect">
            <a:avLst/>
          </a:prstGeom>
          <a:noFill/>
          <a:ln/>
        </p:spPr>
        <p:txBody>
          <a:bodyPr wrap="square" lIns="0" tIns="0" rIns="0" bIns="0" rtlCol="0" anchor="ctr"/>
          <a:lstStyle/>
          <a:p>
            <a:pPr marL="0" indent="0">
              <a:buNone/>
            </a:pPr>
            <a:r>
              <a:rPr lang="en-US" sz="1100" dirty="0">
                <a:solidFill>
                  <a:srgbClr val="A1A1AA"/>
                </a:solidFill>
                <a:latin typeface="Calibri" pitchFamily="34" charset="0"/>
                <a:ea typeface="Calibri" pitchFamily="34" charset="-122"/>
                <a:cs typeface="Calibri" pitchFamily="34" charset="-120"/>
              </a:rPr>
              <a:t>[9] Winter et al. 2014. Spoiled Onions. PETS.</a:t>
            </a:r>
            <a:endParaRPr lang="en-US" sz="1100" dirty="0"/>
          </a:p>
        </p:txBody>
      </p:sp>
      <p:sp>
        <p:nvSpPr>
          <p:cNvPr id="13" name="Text 11"/>
          <p:cNvSpPr/>
          <p:nvPr/>
        </p:nvSpPr>
        <p:spPr>
          <a:xfrm>
            <a:off x="685800" y="4785360"/>
            <a:ext cx="7315200" cy="320040"/>
          </a:xfrm>
          <a:prstGeom prst="rect">
            <a:avLst/>
          </a:prstGeom>
          <a:noFill/>
          <a:ln/>
        </p:spPr>
        <p:txBody>
          <a:bodyPr wrap="square" lIns="0" tIns="0" rIns="0" bIns="0" rtlCol="0" anchor="ctr"/>
          <a:lstStyle/>
          <a:p>
            <a:pPr marL="0" indent="0">
              <a:buNone/>
            </a:pPr>
            <a:r>
              <a:rPr lang="en-US" sz="1200" dirty="0">
                <a:solidFill>
                  <a:srgbClr val="2DD4BF"/>
                </a:solidFill>
                <a:latin typeface="Consolas" pitchFamily="34" charset="0"/>
                <a:ea typeface="Consolas" pitchFamily="34" charset="-122"/>
                <a:cs typeface="Consolas" pitchFamily="34" charset="-120"/>
              </a:rPr>
              <a:t>Code: github.com/eonshikkim/tor-exit-node-mitm</a:t>
            </a:r>
            <a:endParaRPr lang="en-US" sz="1200" dirty="0"/>
          </a:p>
        </p:txBody>
      </p:sp>
      <p:sp>
        <p:nvSpPr>
          <p:cNvPr id="14" name="Text 12"/>
          <p:cNvSpPr txBox="1"/>
          <p:nvPr/>
        </p:nvSpPr>
        <p:spPr>
          <a:xfrm>
            <a:off x="548640" y="4053840"/>
            <a:ext cx="7772400" cy="365760"/>
          </a:xfrm>
          <a:prstGeom prst="rect">
            <a:avLst/>
          </a:prstGeom>
          <a:noFill/>
        </p:spPr>
        <p:txBody>
          <a:bodyPr wrap="square" rtlCol="0"/>
          <a:lstStyle/>
          <a:p>
            <a:pPr marL="0" indent="0">
              <a:buNone/>
            </a:pPr>
            <a:r>
              <a:rPr lang="en-US" sz="1100" dirty="0">
                <a:solidFill>
                  <a:srgbClr val="A1A1AA"/>
                </a:solidFill>
                <a:latin typeface="Calibri" pitchFamily="34" charset="0"/>
                <a:ea typeface="Calibri" pitchFamily="34" charset="-122"/>
                <a:cs typeface="Calibri" pitchFamily="34" charset="-120"/>
              </a:rPr>
              <a:t> [8] The Tor Project. 2022. New Release: Tor Browser 11.5. HTTPS-Only Mode.</a:t>
            </a:r>
            <a:endParaRPr lang="en-US" sz="1100" dirty="0"/>
          </a:p>
        </p:txBody>
      </p:sp>
    </p:spTree>
    <p:extLst>
      <p:ext uri="{BB962C8B-B14F-4D97-AF65-F5344CB8AC3E}">
        <p14:creationId xmlns:p14="http://schemas.microsoft.com/office/powerpoint/2010/main" val="30964968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289CB40-E58D-A14E-9DF8-72D57EE5D06F}">
  <we:reference id="WA200010001" version="1.0.0.1" store="Omex" storeType="OMEX"/>
  <we:alternateReferences>
    <we:reference id="WA200010001" version="1.0.0.1" store="WA200010001" storeType="OMEX"/>
  </we:alternateReferences>
  <we:properties>
    <we:property name="claude.fileId" value="&quot;356efd80-bf1d-44ba-aa0a-b798155d77b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Quotable</Template>
  <TotalTime>425</TotalTime>
  <Words>4222</Words>
  <Application>Microsoft Macintosh PowerPoint</Application>
  <PresentationFormat>On-screen Show (16:9)</PresentationFormat>
  <Paragraphs>254</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Calibri</vt:lpstr>
      <vt:lpstr>Century Gothic</vt:lpstr>
      <vt:lpstr>Consolas</vt:lpstr>
      <vt:lpstr>Trebuchet MS</vt:lpstr>
      <vt:lpstr>Wingdings 2</vt:lpstr>
      <vt:lpstr>Quotable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Eonshik Kim</cp:lastModifiedBy>
  <cp:revision>45</cp:revision>
  <dcterms:created xsi:type="dcterms:W3CDTF">2026-04-09T01:24:52Z</dcterms:created>
  <dcterms:modified xsi:type="dcterms:W3CDTF">2026-04-16T02:13:21Z</dcterms:modified>
</cp:coreProperties>
</file>